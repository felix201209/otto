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Otto 完成度 (%)</c:v>
                </c:pt>
              </c:strCache>
            </c:strRef>
          </c:tx>
          <c:spPr>
            <a:solidFill>
              <a:srgbClr val="6366F1"/>
            </a:solidFill>
          </c:spPr>
          <c:cat>
            <c:strRef>
              <c:f>Sheet1!$A$2:$A$6</c:f>
              <c:strCache>
                <c:ptCount val="5"/>
                <c:pt idx="0">
                  <c:v>文档PPT</c:v>
                </c:pt>
                <c:pt idx="1">
                  <c:v>数据分析</c:v>
                </c:pt>
                <c:pt idx="2">
                  <c:v>飞书同步</c:v>
                </c:pt>
                <c:pt idx="3">
                  <c:v>日历任务</c:v>
                </c:pt>
                <c:pt idx="4">
                  <c:v>本地安全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95</c:v>
                </c:pt>
                <c:pt idx="1">
                  <c:v>90</c:v>
                </c:pt>
                <c:pt idx="2">
                  <c:v>85</c:v>
                </c:pt>
                <c:pt idx="3">
                  <c:v>80</c:v>
                </c:pt>
                <c:pt idx="4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人工耗时 (h/天)</c:v>
                </c:pt>
              </c:strCache>
            </c:strRef>
          </c:tx>
          <c:spPr>
            <a:solidFill>
              <a:srgbClr val="A855F7"/>
            </a:solidFill>
          </c:spPr>
          <c:cat>
            <c:strRef>
              <c:f>Sheet1!$A$2:$A$6</c:f>
              <c:strCache>
                <c:ptCount val="5"/>
                <c:pt idx="0">
                  <c:v>文档PPT</c:v>
                </c:pt>
                <c:pt idx="1">
                  <c:v>数据分析</c:v>
                </c:pt>
                <c:pt idx="2">
                  <c:v>飞书同步</c:v>
                </c:pt>
                <c:pt idx="3">
                  <c:v>日历任务</c:v>
                </c:pt>
                <c:pt idx="4">
                  <c:v>本地安全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4.5</c:v>
                </c:pt>
                <c:pt idx="1">
                  <c:v>3.2</c:v>
                </c:pt>
                <c:pt idx="2">
                  <c:v>2.8</c:v>
                </c:pt>
                <c:pt idx="3">
                  <c:v>1.5</c:v>
                </c:pt>
                <c:pt idx="4">
                  <c:v>0.5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r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0F0F8"/>
                </a:solidFill>
              </a:rPr>
              <a:t>Otto 混合渲染：CSS 背景 + 原生可编辑图表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645920"/>
          <a:ext cx="640080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772400" y="1645920"/>
            <a:ext cx="3474720" cy="1005840"/>
          </a:xfrm>
          <a:prstGeom prst="roundRect">
            <a:avLst/>
          </a:prstGeom>
          <a:solidFill>
            <a:srgbClr val="1A1A28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0F0F8"/>
                </a:solidFill>
              </a:rPr>
              <a:t>8 个  内置技能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2880360"/>
            <a:ext cx="3474720" cy="1005840"/>
          </a:xfrm>
          <a:prstGeom prst="roundRect">
            <a:avLst/>
          </a:prstGeom>
          <a:solidFill>
            <a:srgbClr val="1A1A28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0F0F8"/>
                </a:solidFill>
              </a:rPr>
              <a:t>20 套  视觉系统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4114800"/>
            <a:ext cx="3474720" cy="1005840"/>
          </a:xfrm>
          <a:prstGeom prst="roundRect">
            <a:avLst/>
          </a:prstGeom>
          <a:solidFill>
            <a:srgbClr val="1A1A28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0F0F8"/>
                </a:solidFill>
              </a:rPr>
              <a:t>9 种  布局模板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5349240"/>
            <a:ext cx="3474720" cy="1005840"/>
          </a:xfrm>
          <a:prstGeom prst="roundRect">
            <a:avLst/>
          </a:prstGeom>
          <a:solidFill>
            <a:srgbClr val="1A1A2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0F0F8"/>
                </a:solidFill>
              </a:rPr>
              <a:t>10 道  CSS 香料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9090B0"/>
                </a:solidFill>
              </a:rPr>
              <a:t>✅ 此图表、文字框、色块在 PowerPoint 中完全可编辑 · 可改数据 · 可翻译 · 可换色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0F0F8"/>
                </a:solidFill>
              </a:rPr>
              <a:t>原生可编辑表格：能力矩阵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5156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52832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0F0F8"/>
                          </a:solidFill>
                        </a:rPr>
                        <a:t>能力</a:t>
                      </a:r>
                    </a:p>
                  </a:txBody>
                  <a:tcPr>
                    <a:solidFill>
                      <a:srgbClr val="2525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0F0F8"/>
                          </a:solidFill>
                        </a:rPr>
                        <a:t>描述</a:t>
                      </a:r>
                    </a:p>
                  </a:txBody>
                  <a:tcPr>
                    <a:solidFill>
                      <a:srgbClr val="2525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0F0F8"/>
                          </a:solidFill>
                        </a:rPr>
                        <a:t>状态</a:t>
                      </a:r>
                    </a:p>
                  </a:txBody>
                  <a:tcPr>
                    <a:solidFill>
                      <a:srgbClr val="2525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0F0F8"/>
                          </a:solidFill>
                        </a:rPr>
                        <a:t>版本</a:t>
                      </a:r>
                    </a:p>
                  </a:txBody>
                  <a:tcPr>
                    <a:solidFill>
                      <a:srgbClr val="25253E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D0D0E0"/>
                          </a:solidFill>
                        </a:rPr>
                        <a:t>文档生成</a:t>
                      </a:r>
                    </a:p>
                  </a:txBody>
                  <a:tcPr>
                    <a:solidFill>
                      <a:srgbClr val="15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D0D0E0"/>
                          </a:solidFill>
                        </a:rPr>
                        <a:t>一句话 → PPTX/Word</a:t>
                      </a:r>
                    </a:p>
                  </a:txBody>
                  <a:tcPr>
                    <a:solidFill>
                      <a:srgbClr val="15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C55E"/>
                          </a:solidFill>
                        </a:rPr>
                        <a:t>✅ 生产就绪</a:t>
                      </a:r>
                    </a:p>
                  </a:txBody>
                  <a:tcPr>
                    <a:solidFill>
                      <a:srgbClr val="15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D0D0E0"/>
                          </a:solidFill>
                        </a:rPr>
                        <a:t>v8</a:t>
                      </a:r>
                    </a:p>
                  </a:txBody>
                  <a:tcPr>
                    <a:solidFill>
                      <a:srgbClr val="151528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D0D0E0"/>
                          </a:solidFill>
                        </a:rPr>
                        <a:t>数据分析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D0D0E0"/>
                          </a:solidFill>
                        </a:rPr>
                        <a:t>自然语言操作 Excel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C55E"/>
                          </a:solidFill>
                        </a:rPr>
                        <a:t>✅ 生产就绪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D0D0E0"/>
                          </a:solidFill>
                        </a:rPr>
                        <a:t>v2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D0D0E0"/>
                          </a:solidFill>
                        </a:rPr>
                        <a:t>飞书同步</a:t>
                      </a:r>
                    </a:p>
                  </a:txBody>
                  <a:tcPr>
                    <a:solidFill>
                      <a:srgbClr val="15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D0D0E0"/>
                          </a:solidFill>
                        </a:rPr>
                        <a:t>双向消息·日历·审批</a:t>
                      </a:r>
                    </a:p>
                  </a:txBody>
                  <a:tcPr>
                    <a:solidFill>
                      <a:srgbClr val="15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C55E"/>
                          </a:solidFill>
                        </a:rPr>
                        <a:t>✅ 生产就绪</a:t>
                      </a:r>
                    </a:p>
                  </a:txBody>
                  <a:tcPr>
                    <a:solidFill>
                      <a:srgbClr val="15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D0D0E0"/>
                          </a:solidFill>
                        </a:rPr>
                        <a:t>v3</a:t>
                      </a:r>
                    </a:p>
                  </a:txBody>
                  <a:tcPr>
                    <a:solidFill>
                      <a:srgbClr val="151528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D0D0E0"/>
                          </a:solidFill>
                        </a:rPr>
                        <a:t>CSV 可视化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D0D0E0"/>
                          </a:solidFill>
                        </a:rPr>
                        <a:t>10 道 CSS 香料渲染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C55E"/>
                          </a:solidFill>
                        </a:rPr>
                        <a:t>✅ 生产就绪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D0D0E0"/>
                          </a:solidFill>
                        </a:rPr>
                        <a:t>v8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D0D0E0"/>
                          </a:solidFill>
                        </a:rPr>
                        <a:t>增量编辑</a:t>
                      </a:r>
                    </a:p>
                  </a:txBody>
                  <a:tcPr>
                    <a:solidFill>
                      <a:srgbClr val="15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D0D0E0"/>
                          </a:solidFill>
                        </a:rPr>
                        <a:t>单页改写不复写全 deck</a:t>
                      </a:r>
                    </a:p>
                  </a:txBody>
                  <a:tcPr>
                    <a:solidFill>
                      <a:srgbClr val="15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C55E"/>
                          </a:solidFill>
                        </a:rPr>
                        <a:t>✅ 生产就绪</a:t>
                      </a:r>
                    </a:p>
                  </a:txBody>
                  <a:tcPr>
                    <a:solidFill>
                      <a:srgbClr val="15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D0D0E0"/>
                          </a:solidFill>
                        </a:rPr>
                        <a:t>v6</a:t>
                      </a:r>
                    </a:p>
                  </a:txBody>
                  <a:tcPr>
                    <a:solidFill>
                      <a:srgbClr val="151528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D0D0E0"/>
                          </a:solidFill>
                        </a:rPr>
                        <a:t>来源追溯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D0D0E0"/>
                          </a:solidFill>
                        </a:rPr>
                        <a:t>每数绑定出处 source-map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C55E"/>
                          </a:solidFill>
                        </a:rPr>
                        <a:t>✅ 生产就绪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D0D0E0"/>
                          </a:solidFill>
                        </a:rPr>
                        <a:t>v6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D0D0E0"/>
                          </a:solidFill>
                        </a:rPr>
                        <a:t>混合渲染</a:t>
                      </a:r>
                    </a:p>
                  </a:txBody>
                  <a:tcPr>
                    <a:solidFill>
                      <a:srgbClr val="15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D0D0E0"/>
                          </a:solidFill>
                        </a:rPr>
                        <a:t>CSS 背景+Python 原生对象</a:t>
                      </a:r>
                    </a:p>
                  </a:txBody>
                  <a:tcPr>
                    <a:solidFill>
                      <a:srgbClr val="15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59E0B"/>
                          </a:solidFill>
                        </a:rPr>
                        <a:t>🆕 Python 增强</a:t>
                      </a:r>
                    </a:p>
                  </a:txBody>
                  <a:tcPr>
                    <a:solidFill>
                      <a:srgbClr val="15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D0D0E0"/>
                          </a:solidFill>
                        </a:rPr>
                        <a:t>v8</a:t>
                      </a:r>
                    </a:p>
                  </a:txBody>
                  <a:tcPr>
                    <a:solidFill>
                      <a:srgbClr val="151528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D0D0E0"/>
                          </a:solidFill>
                        </a:rPr>
                        <a:t>Native Charts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D0D0E0"/>
                          </a:solidFill>
                        </a:rPr>
                        <a:t>python-pptx 原生图表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59E0B"/>
                          </a:solidFill>
                        </a:rPr>
                        <a:t>🆕 Python 增强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D0D0E0"/>
                          </a:solidFill>
                        </a:rPr>
                        <a:t>v8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