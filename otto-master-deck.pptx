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Otto 完成度 (%)</c:v>
                </c:pt>
              </c:strCache>
            </c:strRef>
          </c:tx>
          <c:spPr>
            <a:solidFill>
              <a:srgbClr val="6366F1"/>
            </a:solidFill>
          </c:spPr>
          <c:cat>
            <c:strRef>
              <c:f>Sheet1!$A$2:$A$6</c:f>
              <c:strCache>
                <c:ptCount val="5"/>
                <c:pt idx="0">
                  <c:v>文档PPT</c:v>
                </c:pt>
                <c:pt idx="1">
                  <c:v>数据分析</c:v>
                </c:pt>
                <c:pt idx="2">
                  <c:v>飞书同步</c:v>
                </c:pt>
                <c:pt idx="3">
                  <c:v>日历任务</c:v>
                </c:pt>
                <c:pt idx="4">
                  <c:v>本地安全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90</c:v>
                </c:pt>
                <c:pt idx="2">
                  <c:v>85</c:v>
                </c:pt>
                <c:pt idx="3">
                  <c:v>80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人工耗时 (h/天)</c:v>
                </c:pt>
              </c:strCache>
            </c:strRef>
          </c:tx>
          <c:spPr>
            <a:solidFill>
              <a:srgbClr val="A855F7"/>
            </a:solidFill>
          </c:spPr>
          <c:cat>
            <c:strRef>
              <c:f>Sheet1!$A$2:$A$6</c:f>
              <c:strCache>
                <c:ptCount val="5"/>
                <c:pt idx="0">
                  <c:v>文档PPT</c:v>
                </c:pt>
                <c:pt idx="1">
                  <c:v>数据分析</c:v>
                </c:pt>
                <c:pt idx="2">
                  <c:v>飞书同步</c:v>
                </c:pt>
                <c:pt idx="3">
                  <c:v>日历任务</c:v>
                </c:pt>
                <c:pt idx="4">
                  <c:v>本地安全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4.5</c:v>
                </c:pt>
                <c:pt idx="1">
                  <c:v>3.2</c:v>
                </c:pt>
                <c:pt idx="2">
                  <c:v>2.8</c:v>
                </c:pt>
                <c:pt idx="3">
                  <c:v>1.5</c:v>
                </c:pt>
                <c:pt idx="4">
                  <c:v>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F0F0F8"/>
                </a:solidFill>
              </a:rPr>
              <a:t>Otto</a:t>
            </a:r>
          </a:p>
          <a:p>
            <a:pPr algn="ctr"/>
            <a:r>
              <a:rPr sz="10000" b="1">
                <a:solidFill>
                  <a:srgbClr val="F0F0F8"/>
                </a:solidFill>
              </a:rPr>
              <a:t>Your AI Coworker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303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sz="2400">
                <a:solidFill>
                  <a:srgbClr val="9090B0"/>
                </a:solidFill>
              </a:rPr>
              <a:t>值得信赖的企业级 AI 办公引擎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sz="1400">
                <a:solidFill>
                  <a:srgbClr val="606080"/>
                </a:solidFill>
              </a:rPr>
              <a:t>INVESTOR DECK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320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366F1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0F0F8"/>
                </a:solidFill>
              </a:rPr>
              <a:t>每个知识工作者</a:t>
            </a:r>
          </a:p>
          <a:p>
            <a:pPr algn="l"/>
            <a:r>
              <a:rPr sz="4600" b="1">
                <a:solidFill>
                  <a:srgbClr val="F0F0F8"/>
                </a:solidFill>
              </a:rPr>
              <a:t>每天浪费 2.1 小时</a:t>
            </a:r>
          </a:p>
          <a:p>
            <a:pPr algn="l"/>
            <a:r>
              <a:rPr sz="4600" b="1">
                <a:solidFill>
                  <a:srgbClr val="F0F0F8"/>
                </a:solidFill>
              </a:rPr>
              <a:t>在重复办公任务上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000">
                <a:solidFill>
                  <a:srgbClr val="9090B0"/>
                </a:solidFill>
              </a:rPr>
              <a:t>文档起草 · PPT 排版 · 表格公式</a:t>
            </a:r>
          </a:p>
          <a:p>
            <a:pPr algn="l">
              <a:lnSpc>
                <a:spcPts val="3000"/>
              </a:lnSpc>
            </a:pPr>
            <a:r>
              <a:rPr sz="2000">
                <a:solidFill>
                  <a:srgbClr val="9090B0"/>
                </a:solidFill>
              </a:rPr>
              <a:t>会议纪要 · 邮件回复 · 数据整理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1400">
                <a:solidFill>
                  <a:srgbClr val="707090"/>
                </a:solidFill>
              </a:rPr>
              <a:t>来源: McKinsey Global Institute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sz="20000">
                <a:solidFill>
                  <a:srgbClr val="6366F1"/>
                </a:solidFill>
              </a:rPr>
              <a:t>2.1h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3891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sz="1800">
                <a:solidFill>
                  <a:srgbClr val="9090B0"/>
                </a:solidFill>
              </a:rPr>
              <a:t>每日低价值</a:t>
            </a:r>
          </a:p>
          <a:p>
            <a:pPr algn="ctr">
              <a:lnSpc>
                <a:spcPts val="3000"/>
              </a:lnSpc>
            </a:pPr>
            <a:r>
              <a:rPr sz="1800">
                <a:solidFill>
                  <a:srgbClr val="9090B0"/>
                </a:solidFill>
              </a:rPr>
              <a:t>重复劳动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320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366F1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0F8"/>
                </a:solidFill>
              </a:rPr>
              <a:t>把你的工作工具全部 AI 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2103120"/>
          </a:xfrm>
          <a:prstGeom prst="roundRect">
            <a:avLst/>
          </a:prstGeom>
          <a:solidFill>
            <a:srgbClr val="151528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0F8"/>
                </a:solidFill>
              </a:rPr>
              <a:t>📄 文档 &amp; PPT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一句话 → 发布会级演示</a:t>
            </a:r>
          </a:p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20套视觉 · 9种布局</a:t>
            </a:r>
          </a:p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HTML→PNG→PPTX 全自动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737360"/>
            <a:ext cx="3383280" cy="2103120"/>
          </a:xfrm>
          <a:prstGeom prst="roundRect">
            <a:avLst/>
          </a:prstGeom>
          <a:solidFill>
            <a:srgbClr val="151528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0F8"/>
                </a:solidFill>
              </a:rPr>
              <a:t>💬 飞书双向同步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@Otto 即可办公</a:t>
            </a:r>
          </a:p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消息·日历·文档</a:t>
            </a:r>
          </a:p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审批·任务全打通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37360"/>
            <a:ext cx="3383280" cy="2103120"/>
          </a:xfrm>
          <a:prstGeom prst="roundRect">
            <a:avLst/>
          </a:prstGeom>
          <a:solidFill>
            <a:srgbClr val="151528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0F8"/>
                </a:solidFill>
              </a:rPr>
              <a:t>🔒 本地优先·安全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数据不出本地机器</a:t>
            </a:r>
          </a:p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来源完全可追溯</a:t>
            </a:r>
          </a:p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检查点可恢复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3383280" cy="2103120"/>
          </a:xfrm>
          <a:prstGeom prst="roundRect">
            <a:avLst/>
          </a:prstGeom>
          <a:solidFill>
            <a:srgbClr val="151528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0F8"/>
                </a:solidFill>
              </a:rPr>
              <a:t>🚀 纯 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59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零外部依赖</a:t>
            </a:r>
          </a:p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安装即用·跨平台</a:t>
            </a:r>
          </a:p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Electron+CLI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206240"/>
            <a:ext cx="3383280" cy="2103120"/>
          </a:xfrm>
          <a:prstGeom prst="roundRect">
            <a:avLst/>
          </a:prstGeom>
          <a:solidFill>
            <a:srgbClr val="151528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0F8"/>
                </a:solidFill>
              </a:rPr>
              <a:t>📊 表格 &amp; 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937759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自然语言操作 Excel</a:t>
            </a:r>
          </a:p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自动分析·图表生成</a:t>
            </a:r>
          </a:p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公式推导·数据清洗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206240"/>
            <a:ext cx="3383280" cy="2103120"/>
          </a:xfrm>
          <a:prstGeom prst="roundRect">
            <a:avLst/>
          </a:prstGeom>
          <a:solidFill>
            <a:srgbClr val="151528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0F8"/>
                </a:solidFill>
              </a:rPr>
              <a:t>🎨 CSS 视觉引擎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937759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10道视觉香料</a:t>
            </a:r>
          </a:p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Mesh·Glass·Orbs</a:t>
            </a:r>
          </a:p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Noise·Kinetic·3D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320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366F1"/>
                </a:solidFill>
              </a:rP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0F8"/>
                </a:solidFill>
              </a:rPr>
              <a:t>开箱即用的 AI 办公能力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554480"/>
          <a:ext cx="713232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0" y="1554480"/>
            <a:ext cx="3200400" cy="1005840"/>
          </a:xfrm>
          <a:prstGeom prst="roundRect">
            <a:avLst/>
          </a:prstGeom>
          <a:solidFill>
            <a:srgbClr val="1A1A28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0F0F8"/>
                </a:solidFill>
              </a:rPr>
              <a:t>8  Built-in Skills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743200"/>
            <a:ext cx="3200400" cy="1005840"/>
          </a:xfrm>
          <a:prstGeom prst="roundRect">
            <a:avLst/>
          </a:prstGeom>
          <a:solidFill>
            <a:srgbClr val="1A1A28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0F0F8"/>
                </a:solidFill>
              </a:rPr>
              <a:t>20  Visual 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931920"/>
            <a:ext cx="3200400" cy="1005840"/>
          </a:xfrm>
          <a:prstGeom prst="roundRect">
            <a:avLst/>
          </a:prstGeom>
          <a:solidFill>
            <a:srgbClr val="1A1A2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0F0F8"/>
                </a:solidFill>
              </a:rPr>
              <a:t>9  Layouts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5120640"/>
            <a:ext cx="3200400" cy="1005840"/>
          </a:xfrm>
          <a:prstGeom prst="roundRect">
            <a:avLst/>
          </a:prstGeom>
          <a:solidFill>
            <a:srgbClr val="1A1A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0F0F8"/>
                </a:solidFill>
              </a:rPr>
              <a:t>10  CSS Spices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320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366F1"/>
                </a:solidFill>
              </a:rPr>
              <a:t>TRUST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0F8"/>
                </a:solidFill>
              </a:rPr>
              <a:t>值得信赖的 AI 同事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53142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0F0F8"/>
                          </a:solidFill>
                        </a:rPr>
                        <a:t>质量保证</a:t>
                      </a:r>
                    </a:p>
                  </a:txBody>
                  <a:tcPr>
                    <a:solidFill>
                      <a:srgbClr val="25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0F0F8"/>
                          </a:solidFill>
                        </a:rPr>
                        <a:t>描述</a:t>
                      </a:r>
                    </a:p>
                  </a:txBody>
                  <a:tcPr>
                    <a:solidFill>
                      <a:srgbClr val="25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0F0F8"/>
                          </a:solidFill>
                        </a:rPr>
                        <a:t>状态</a:t>
                      </a:r>
                    </a:p>
                  </a:txBody>
                  <a:tcPr>
                    <a:solidFill>
                      <a:srgbClr val="25253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090B0"/>
                          </a:solidFill>
                        </a:rPr>
                        <a:t>稳定 slideId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090B0"/>
                          </a:solidFill>
                        </a:rPr>
                        <a:t>每页永不改变的标识符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C55E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090B0"/>
                          </a:solidFill>
                        </a:rPr>
                        <a:t>增量编辑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090B0"/>
                          </a:solidFill>
                        </a:rPr>
                        <a:t>改一页只再生一页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C55E"/>
                          </a:solidFill>
                        </a:rPr>
                        <a:t>✅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090B0"/>
                          </a:solidFill>
                        </a:rPr>
                        <a:t>检查点恢复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090B0"/>
                          </a:solidFill>
                        </a:rPr>
                        <a:t>7级 checkpoint 中断可续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C55E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090B0"/>
                          </a:solidFill>
                        </a:rPr>
                        <a:t>来源追溯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090B0"/>
                          </a:solidFill>
                        </a:rPr>
                        <a:t>每数绑定出处 source-map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C55E"/>
                          </a:solidFill>
                        </a:rPr>
                        <a:t>✅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090B0"/>
                          </a:solidFill>
                        </a:rPr>
                        <a:t>优雅降级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090B0"/>
                          </a:solidFill>
                        </a:rPr>
                        <a:t>Needs-Manual 不假完成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C55E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151528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090B0"/>
                          </a:solidFill>
                        </a:rPr>
                        <a:t>审计脚本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090B0"/>
                          </a:solidFill>
                        </a:rPr>
                        <a:t>audit-pptx.cjs 自动校验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C55E"/>
                          </a:solidFill>
                        </a:rP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320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366F1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0F8"/>
                </a:solidFill>
              </a:rPr>
              <a:t>五端统一 · 纯 Node.js 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000">
                <a:solidFill>
                  <a:srgbClr val="9090B0"/>
                </a:solidFill>
              </a:rPr>
              <a:t>Electron 桌面 + CLI + VSCode 插件</a:t>
            </a:r>
          </a:p>
          <a:p>
            <a:pPr algn="l">
              <a:lnSpc>
                <a:spcPts val="3000"/>
              </a:lnSpc>
            </a:pPr>
            <a:r>
              <a:rPr sz="2000">
                <a:solidFill>
                  <a:srgbClr val="9090B0"/>
                </a:solidFill>
              </a:rPr>
              <a:t>飞书 Bot · Server API 后端</a:t>
            </a:r>
          </a:p>
          <a:p>
            <a:pPr algn="l">
              <a:lnSpc>
                <a:spcPts val="3000"/>
              </a:lnSpc>
            </a:pPr>
            <a:r>
              <a:rPr sz="2000">
                <a:solidFill>
                  <a:srgbClr val="9090B0"/>
                </a:solidFill>
              </a:rPr>
              <a:t>三端统一体验，安装即用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554480"/>
            <a:ext cx="4754880" cy="822960"/>
          </a:xfrm>
          <a:prstGeom prst="roundRect">
            <a:avLst/>
          </a:prstGeom>
          <a:solidFill>
            <a:srgbClr val="151528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0" y="1691639"/>
            <a:ext cx="548640" cy="548640"/>
          </a:xfrm>
          <a:prstGeom prst="round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F0F8"/>
                </a:solidFill>
              </a:rPr>
              <a:t>CLI 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38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开发者原生 · 管道友好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514600"/>
            <a:ext cx="4754880" cy="822960"/>
          </a:xfrm>
          <a:prstGeom prst="roundRect">
            <a:avLst/>
          </a:prstGeom>
          <a:solidFill>
            <a:srgbClr val="151528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0" y="2651760"/>
            <a:ext cx="548640" cy="548640"/>
          </a:xfrm>
          <a:prstGeom prst="round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87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F0F8"/>
                </a:solidFill>
              </a:rPr>
              <a:t>Desktop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Electron 原生 · GUI 全功能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474720"/>
            <a:ext cx="4754880" cy="822960"/>
          </a:xfrm>
          <a:prstGeom prst="roundRect">
            <a:avLst/>
          </a:prstGeom>
          <a:solidFill>
            <a:srgbClr val="151528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40880" y="3611879"/>
            <a:ext cx="548640" cy="548640"/>
          </a:xfrm>
          <a:prstGeom prst="round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47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F0F8"/>
                </a:solidFill>
              </a:rPr>
              <a:t>Feishu 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858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消息同步 · 日历 · 审批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4434840"/>
            <a:ext cx="4754880" cy="822960"/>
          </a:xfrm>
          <a:prstGeom prst="roundRect">
            <a:avLst/>
          </a:prstGeom>
          <a:solidFill>
            <a:srgbClr val="151528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0" y="4572000"/>
            <a:ext cx="548640" cy="548640"/>
          </a:xfrm>
          <a:prstGeom prst="round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507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F0F8"/>
                </a:solidFill>
              </a:rPr>
              <a:t>VSCode Plugin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18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IDE 内嵌 · 代码+文档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5394960"/>
            <a:ext cx="4754880" cy="822960"/>
          </a:xfrm>
          <a:prstGeom prst="roundRect">
            <a:avLst/>
          </a:prstGeom>
          <a:solidFill>
            <a:srgbClr val="151528"/>
          </a:solidFill>
          <a:ln w="12700">
            <a:solidFill>
              <a:srgbClr val="3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0" y="5532120"/>
            <a:ext cx="548640" cy="548640"/>
          </a:xfrm>
          <a:prstGeom prst="round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468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0F0F8"/>
                </a:solidFill>
              </a:rPr>
              <a:t>Server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779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1300">
                <a:solidFill>
                  <a:srgbClr val="9090B0"/>
                </a:solidFill>
              </a:rPr>
              <a:t>REST API · 飞书网关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0" y="22860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sz="28000">
                <a:solidFill>
                  <a:srgbClr val="6366F1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303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sz="2000">
                <a:solidFill>
                  <a:srgbClr val="9090B0"/>
                </a:solidFill>
              </a:rPr>
              <a:t>SENTENCE → DELIVERABLE 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57607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sz="1800">
                <a:solidFill>
                  <a:srgbClr val="9090B0"/>
                </a:solidFill>
              </a:rPr>
              <a:t>从一句话到可交付的演示文稿</a:t>
            </a:r>
          </a:p>
          <a:p>
            <a:pPr algn="ctr">
              <a:lnSpc>
                <a:spcPts val="3000"/>
              </a:lnSpc>
            </a:pPr>
            <a:r>
              <a:rPr sz="1800">
                <a:solidFill>
                  <a:srgbClr val="9090B0"/>
                </a:solidFill>
              </a:rPr>
              <a:t>不需要设计师 · 不需要模板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0F0F8"/>
                </a:solidFill>
              </a:rPr>
              <a:t>让 Otto 成为</a:t>
            </a:r>
          </a:p>
          <a:p>
            <a:pPr algn="ctr"/>
            <a:r>
              <a:rPr sz="6000" b="1">
                <a:solidFill>
                  <a:srgbClr val="F0F0F8"/>
                </a:solidFill>
              </a:rPr>
              <a:t>你团队的第 N+1 个成员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3891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sz="2000">
                <a:solidFill>
                  <a:srgbClr val="9090B0"/>
                </a:solidFill>
              </a:rPr>
              <a:t>纯 Node.js · 开源 · 值得信赖</a:t>
            </a:r>
          </a:p>
          <a:p>
            <a:pPr algn="ctr">
              <a:lnSpc>
                <a:spcPts val="3000"/>
              </a:lnSpc>
            </a:pPr>
            <a:r>
              <a:rPr sz="2000">
                <a:solidFill>
                  <a:srgbClr val="9090B0"/>
                </a:solidFill>
              </a:rPr>
              <a:t>github.com/Felix201209/otto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5486400"/>
            <a:ext cx="3931920" cy="8229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Join Beta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