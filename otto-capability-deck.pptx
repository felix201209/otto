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10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476250" y="-952500"/>
            <a:ext cx="7620000" cy="7620000"/>
          </a:xfrm>
          <a:prstGeom prst="ellipse">
            <a:avLst/>
          </a:prstGeom>
          <a:solidFill>
            <a:srgbClr val="6366F1">
              <a:alpha val="10000"/>
            </a:srgbClr>
          </a:solidFill>
          <a:ln>
            <a:noFill/>
          </a:ln>
          <a:effectLst>
            <a:glow rad="762000">
              <a:srgbClr val="000000">
                <a:alpha val="30000"/>
              </a:srgbClr>
            </a:glow>
          </a:effectLst>
        </p:spPr>
      </p:sp>
      <p:sp>
        <p:nvSpPr>
          <p:cNvPr id="4" name="Ellipse 4"/>
          <p:cNvSpPr/>
          <p:nvPr/>
        </p:nvSpPr>
        <p:spPr>
          <a:xfrm>
            <a:off x="11430000" y="3333750"/>
            <a:ext cx="6667500" cy="6667500"/>
          </a:xfrm>
          <a:prstGeom prst="ellipse">
            <a:avLst/>
          </a:prstGeom>
          <a:solidFill>
            <a:srgbClr val="A855F7">
              <a:alpha val="8000"/>
            </a:srgbClr>
          </a:solidFill>
          <a:ln>
            <a:noFill/>
          </a:ln>
          <a:effectLst>
            <a:glow rad="762000">
              <a:srgbClr val="000000">
                <a:alpha val="30000"/>
              </a:srgbClr>
            </a:glow>
          </a:effectLst>
        </p:spPr>
      </p:sp>
      <p:sp>
        <p:nvSpPr>
          <p:cNvPr id="5" name="TextBox 5"/>
          <p:cNvSpPr txBox="1"/>
          <p:nvPr/>
        </p:nvSpPr>
        <p:spPr>
          <a:xfrm>
            <a:off x="7550544" y="2745105"/>
            <a:ext cx="3186913" cy="1645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100" b="1" dirty="0">
                <a:gradFill>
                  <a:gsLst>
                    <a:gs pos="0">
                      <a:srgbClr val="6366F1"/>
                    </a:gs>
                    <a:gs pos="100000">
                      <a:srgbClr val="A855F7"/>
                    </a:gs>
                  </a:gsLst>
                  <a:lin ang="2700000" scaled="1"/>
                </a:gradFill>
                <a:latin typeface="Segoe UI"/>
                <a:ea typeface="Microsoft YaHei"/>
                <a:cs typeface="Segoe UI"/>
              </a:rPr>
              <a:t>Otto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33828" y="4309110"/>
            <a:ext cx="542034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Your AI Coworker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39153" y="5711190"/>
            <a:ext cx="440969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Enterprise-Ready AI Office Engine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33363" y="6347460"/>
            <a:ext cx="56212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06080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Built for daily work: Docs, PPTs, Spreadsheets, Calendar, Feishu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1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0001250" cy="10287000"/>
          </a:xfrm>
          <a:prstGeom prst="rect">
            <a:avLst/>
          </a:prstGeom>
          <a:solidFill>
            <a:srgbClr val="0A0A1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9618" y="656749"/>
            <a:ext cx="12732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366F1">
                    <a:alphaMod val="85000"/>
                  </a:srgbClr>
                </a:solidFill>
                <a:latin typeface="Segoe UI"/>
                <a:ea typeface="Microsoft YaHei"/>
                <a:cs typeface="Segoe UI"/>
              </a:rPr>
              <a:t>THE DAILY REALITY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6280" y="1135380"/>
            <a:ext cx="668866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What knowledge workers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6280" y="1706880"/>
            <a:ext cx="605378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actually spend time on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3048000"/>
            <a:ext cx="6477000" cy="419100"/>
          </a:xfrm>
          <a:prstGeom prst="roundRect">
            <a:avLst>
              <a:gd name="adj" fmla="val 18182"/>
            </a:avLst>
          </a:prstGeom>
          <a:solidFill>
            <a:srgbClr val="15152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3048000"/>
            <a:ext cx="5524500" cy="419100"/>
          </a:xfrm>
          <a:prstGeom prst="roundRect">
            <a:avLst>
              <a:gd name="adj" fmla="val 18182"/>
            </a:avLst>
          </a:prstGeom>
          <a:solidFill>
            <a:srgbClr val="6366F1">
              <a:alpha val="85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8212" y="3212306"/>
            <a:ext cx="35480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Document drafting, formatting, polishing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86512" y="3212306"/>
            <a:ext cx="2996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29%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3619500"/>
            <a:ext cx="6477000" cy="419100"/>
          </a:xfrm>
          <a:prstGeom prst="roundRect">
            <a:avLst>
              <a:gd name="adj" fmla="val 18182"/>
            </a:avLst>
          </a:prstGeom>
          <a:solidFill>
            <a:srgbClr val="151528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762000" y="3619500"/>
            <a:ext cx="4381500" cy="419100"/>
          </a:xfrm>
          <a:prstGeom prst="roundRect">
            <a:avLst>
              <a:gd name="adj" fmla="val 18182"/>
            </a:avLst>
          </a:prstGeom>
          <a:solidFill>
            <a:srgbClr val="A855F7">
              <a:alpha val="85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38212" y="3783806"/>
            <a:ext cx="37895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Spreadsheet formulas, data cleanup, charts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43512" y="3783806"/>
            <a:ext cx="2996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23%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4191000"/>
            <a:ext cx="6477000" cy="419100"/>
          </a:xfrm>
          <a:prstGeom prst="roundRect">
            <a:avLst>
              <a:gd name="adj" fmla="val 18182"/>
            </a:avLst>
          </a:prstGeom>
          <a:solidFill>
            <a:srgbClr val="151528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762000" y="4191000"/>
            <a:ext cx="3810000" cy="419100"/>
          </a:xfrm>
          <a:prstGeom prst="roundRect">
            <a:avLst>
              <a:gd name="adj" fmla="val 18182"/>
            </a:avLst>
          </a:prstGeom>
          <a:solidFill>
            <a:srgbClr val="7C3AED">
              <a:alpha val="85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38212" y="4355306"/>
            <a:ext cx="32633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Meeting scheduling, notes, follow-ups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72012" y="4355306"/>
            <a:ext cx="2996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20%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4762500"/>
            <a:ext cx="6477000" cy="419100"/>
          </a:xfrm>
          <a:prstGeom prst="roundRect">
            <a:avLst>
              <a:gd name="adj" fmla="val 18182"/>
            </a:avLst>
          </a:prstGeom>
          <a:solidFill>
            <a:srgbClr val="151528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762000" y="4762500"/>
            <a:ext cx="3048000" cy="419100"/>
          </a:xfrm>
          <a:prstGeom prst="roundRect">
            <a:avLst>
              <a:gd name="adj" fmla="val 18182"/>
            </a:avLst>
          </a:prstGeom>
          <a:solidFill>
            <a:srgbClr val="F43F5E">
              <a:alpha val="85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38212" y="4926806"/>
            <a:ext cx="27975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Email triage, replies, follow-ups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10012" y="4926806"/>
            <a:ext cx="2586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16%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2000" y="5334000"/>
            <a:ext cx="6477000" cy="419100"/>
          </a:xfrm>
          <a:prstGeom prst="roundRect">
            <a:avLst>
              <a:gd name="adj" fmla="val 18182"/>
            </a:avLst>
          </a:prstGeom>
          <a:solidFill>
            <a:srgbClr val="151528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762000" y="5334000"/>
            <a:ext cx="2286000" cy="419100"/>
          </a:xfrm>
          <a:prstGeom prst="roundRect">
            <a:avLst>
              <a:gd name="adj" fmla="val 18182"/>
            </a:avLst>
          </a:prstGeom>
          <a:solidFill>
            <a:srgbClr val="F59E0B">
              <a:alpha val="85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38212" y="5498306"/>
            <a:ext cx="28406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PPT creation, design, formatting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148012" y="5498306"/>
            <a:ext cx="2586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12%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0477500" y="2667000"/>
            <a:ext cx="7048500" cy="6667500"/>
          </a:xfrm>
          <a:prstGeom prst="roundRect">
            <a:avLst>
              <a:gd name="adj" fmla="val 2857"/>
            </a:avLst>
          </a:prstGeom>
          <a:solidFill>
            <a:srgbClr val="0A0A18"/>
          </a:solidFill>
          <a:ln w="9525">
            <a:solidFill>
              <a:srgbClr val="3A3A5E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2539984" y="3057525"/>
            <a:ext cx="2923532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0" b="1" dirty="0">
                <a:solidFill>
                  <a:srgbClr val="F43F5E"/>
                </a:solidFill>
                <a:latin typeface="Segoe UI"/>
                <a:ea typeface="Microsoft YaHei"/>
                <a:cs typeface="Segoe UI"/>
              </a:rPr>
              <a:t>68%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756452" y="4758690"/>
            <a:ext cx="249059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of work time spent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736735" y="5139690"/>
            <a:ext cx="25300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on repetitive tasks</a:t>
            </a:r>
          </a:p>
        </p:txBody>
      </p:sp>
      <p:sp>
        <p:nvSpPr>
          <p:cNvPr id="31" name="Rectangle 31"/>
          <p:cNvSpPr/>
          <p:nvPr/>
        </p:nvSpPr>
        <p:spPr>
          <a:xfrm>
            <a:off x="11049000" y="5905500"/>
            <a:ext cx="5905500" cy="9525"/>
          </a:xfrm>
          <a:prstGeom prst="rect">
            <a:avLst/>
          </a:prstGeom>
          <a:solidFill>
            <a:srgbClr val="3A3A5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2540600" y="6712268"/>
            <a:ext cx="29223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2C55E"/>
                </a:solidFill>
                <a:latin typeface="Segoe UI"/>
                <a:ea typeface="Microsoft YaHei"/>
                <a:cs typeface="Segoe UI"/>
              </a:rPr>
              <a:t>Otto automates these tasks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173129" y="7093268"/>
            <a:ext cx="36572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2C55E"/>
                </a:solidFill>
                <a:latin typeface="Segoe UI"/>
                <a:ea typeface="Microsoft YaHei"/>
                <a:cs typeface="Segoe UI"/>
              </a:rPr>
              <a:t>Freeing 4+ hours per person per day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1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9618" y="656749"/>
            <a:ext cx="8994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366F1">
                    <a:alphaMod val="85000"/>
                  </a:srgbClr>
                </a:solidFill>
                <a:latin typeface="Segoe UI"/>
                <a:ea typeface="Microsoft YaHei"/>
                <a:cs typeface="Segoe UI"/>
              </a:rPr>
              <a:t>CAPABILITIES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6280" y="563880"/>
            <a:ext cx="870371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What Otto can do for your team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2950" y="1457325"/>
            <a:ext cx="63912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Eight built-in skills. Zero setup. Install and start working.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190750"/>
            <a:ext cx="4000500" cy="3619500"/>
          </a:xfrm>
          <a:prstGeom prst="roundRect">
            <a:avLst>
              <a:gd name="adj" fmla="val 4211"/>
            </a:avLst>
          </a:prstGeom>
          <a:solidFill>
            <a:srgbClr val="0A0A18">
              <a:alpha val="95000"/>
            </a:srgbClr>
          </a:solidFill>
          <a:ln w="9525">
            <a:solidFill>
              <a:srgbClr val="3A3A5E">
                <a:alpha val="95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3455" y="2387918"/>
            <a:ext cx="20734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Document Generator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8218" y="2656999"/>
            <a:ext cx="21892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One sentence to polished .docx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8218" y="286654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20 visual systems for PPTs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8218" y="3076099"/>
            <a:ext cx="18545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Slidev layouts + CSS engine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8218" y="3285649"/>
            <a:ext cx="16053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Auto table of contents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048250" y="2190750"/>
            <a:ext cx="4000500" cy="3619500"/>
          </a:xfrm>
          <a:prstGeom prst="roundRect">
            <a:avLst>
              <a:gd name="adj" fmla="val 4211"/>
            </a:avLst>
          </a:prstGeom>
          <a:solidFill>
            <a:srgbClr val="0A0A18">
              <a:alpha val="95000"/>
            </a:srgbClr>
          </a:solidFill>
          <a:ln w="9525">
            <a:solidFill>
              <a:srgbClr val="3A3A5E">
                <a:alpha val="95000"/>
              </a:srgbClr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259705" y="23879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Spreadsheet Pro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64468" y="2656999"/>
            <a:ext cx="18332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Natural language formulas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64468" y="2866549"/>
            <a:ext cx="12921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Auto data analysis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64468" y="3076099"/>
            <a:ext cx="12066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Chart generation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64468" y="3285649"/>
            <a:ext cx="13775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CSV to visualization</a:t>
            </a:r>
          </a:p>
        </p:txBody>
      </p:sp>
      <p:sp>
        <p:nvSpPr>
          <p:cNvPr id="18" name="Rectangle 18"/>
          <p:cNvSpPr/>
          <p:nvPr/>
        </p:nvSpPr>
        <p:spPr>
          <a:xfrm>
            <a:off x="9334500" y="2190750"/>
            <a:ext cx="4000500" cy="3619500"/>
          </a:xfrm>
          <a:prstGeom prst="roundRect">
            <a:avLst>
              <a:gd name="adj" fmla="val 4211"/>
            </a:avLst>
          </a:prstGeom>
          <a:solidFill>
            <a:srgbClr val="0A0A18">
              <a:alpha val="95000"/>
            </a:srgbClr>
          </a:solidFill>
          <a:ln w="9525">
            <a:solidFill>
              <a:srgbClr val="3A3A5E">
                <a:alpha val="95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545955" y="2387918"/>
            <a:ext cx="152487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Calendar Agent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50718" y="2656999"/>
            <a:ext cx="16765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Auto meeting scheduling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50718" y="2866549"/>
            <a:ext cx="13348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Conflict resolution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50718" y="3076099"/>
            <a:ext cx="20112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Recurring event management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50718" y="3285649"/>
            <a:ext cx="16623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Smart time suggestions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3620750" y="2190750"/>
            <a:ext cx="4000500" cy="3619500"/>
          </a:xfrm>
          <a:prstGeom prst="roundRect">
            <a:avLst>
              <a:gd name="adj" fmla="val 4211"/>
            </a:avLst>
          </a:prstGeom>
          <a:solidFill>
            <a:srgbClr val="0A0A18">
              <a:alpha val="95000"/>
            </a:srgbClr>
          </a:solidFill>
          <a:ln w="9525">
            <a:solidFill>
              <a:srgbClr val="3A3A5E">
                <a:alpha val="95000"/>
              </a:srgbClr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3832205" y="2387918"/>
            <a:ext cx="11832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Feishu Sync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836968" y="2656999"/>
            <a:ext cx="19613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Real-time bidirectional sync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836968" y="2866549"/>
            <a:ext cx="15413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In-app chat commands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836968" y="3076099"/>
            <a:ext cx="12351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Document sharing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836968" y="3285649"/>
            <a:ext cx="13846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Approval workflows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6096000"/>
            <a:ext cx="4000500" cy="3619500"/>
          </a:xfrm>
          <a:prstGeom prst="roundRect">
            <a:avLst>
              <a:gd name="adj" fmla="val 4211"/>
            </a:avLst>
          </a:prstGeom>
          <a:solidFill>
            <a:srgbClr val="0A0A18">
              <a:alpha val="95000"/>
            </a:srgbClr>
          </a:solidFill>
          <a:ln w="9525">
            <a:solidFill>
              <a:srgbClr val="3A3A5E">
                <a:alpha val="95000"/>
              </a:srgbClr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973455" y="6293168"/>
            <a:ext cx="14524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Meeting Notes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78218" y="6562249"/>
            <a:ext cx="13277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Auto transcription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78218" y="6771799"/>
            <a:ext cx="15982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Action item extraction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78218" y="6981349"/>
            <a:ext cx="12137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Decision tracking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78218" y="7190899"/>
            <a:ext cx="16338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Multi-language support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048250" y="6096000"/>
            <a:ext cx="4000500" cy="3619500"/>
          </a:xfrm>
          <a:prstGeom prst="roundRect">
            <a:avLst>
              <a:gd name="adj" fmla="val 4211"/>
            </a:avLst>
          </a:prstGeom>
          <a:solidFill>
            <a:srgbClr val="0A0A18">
              <a:alpha val="95000"/>
            </a:srgbClr>
          </a:solidFill>
          <a:ln w="9525">
            <a:solidFill>
              <a:srgbClr val="3A3A5E">
                <a:alpha val="95000"/>
              </a:srgbClr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5259705" y="6293168"/>
            <a:ext cx="17319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Market Research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64468" y="6562249"/>
            <a:ext cx="23031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Web search + source aggregation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264468" y="6771799"/>
            <a:ext cx="10144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Trend analysis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264468" y="6981349"/>
            <a:ext cx="14416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Competitor profiling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264468" y="7190899"/>
            <a:ext cx="12137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Citation tracking</a:t>
            </a:r>
          </a:p>
        </p:txBody>
      </p:sp>
      <p:sp>
        <p:nvSpPr>
          <p:cNvPr id="42" name="Rectangle 42"/>
          <p:cNvSpPr/>
          <p:nvPr/>
        </p:nvSpPr>
        <p:spPr>
          <a:xfrm>
            <a:off x="9334500" y="6096000"/>
            <a:ext cx="4000500" cy="3619500"/>
          </a:xfrm>
          <a:prstGeom prst="roundRect">
            <a:avLst>
              <a:gd name="adj" fmla="val 4211"/>
            </a:avLst>
          </a:prstGeom>
          <a:solidFill>
            <a:srgbClr val="0A0A18">
              <a:alpha val="95000"/>
            </a:srgbClr>
          </a:solidFill>
          <a:ln w="9525">
            <a:solidFill>
              <a:srgbClr val="3A3A5E">
                <a:alpha val="95000"/>
              </a:srgbClr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545955" y="6293168"/>
            <a:ext cx="11315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PDF Toolkit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550718" y="6562249"/>
            <a:ext cx="14060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PDF text extraction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550718" y="6771799"/>
            <a:ext cx="8150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Form filling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550718" y="6981349"/>
            <a:ext cx="13633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PDF merge and split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550718" y="71908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OCR support</a:t>
            </a:r>
          </a:p>
        </p:txBody>
      </p:sp>
      <p:sp>
        <p:nvSpPr>
          <p:cNvPr id="48" name="Rectangle 48"/>
          <p:cNvSpPr/>
          <p:nvPr/>
        </p:nvSpPr>
        <p:spPr>
          <a:xfrm>
            <a:off x="13620750" y="6096000"/>
            <a:ext cx="4000500" cy="3619500"/>
          </a:xfrm>
          <a:prstGeom prst="roundRect">
            <a:avLst>
              <a:gd name="adj" fmla="val 4211"/>
            </a:avLst>
          </a:prstGeom>
          <a:solidFill>
            <a:srgbClr val="6366F1">
              <a:alpha val="95000"/>
            </a:srgbClr>
          </a:solidFill>
          <a:ln w="9525">
            <a:solidFill>
              <a:srgbClr val="3A3A5E">
                <a:alpha val="95000"/>
              </a:srgbClr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13832205" y="6293168"/>
            <a:ext cx="18250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Data Visualization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836968" y="656224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SVG charts and dashboards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836968" y="6771799"/>
            <a:ext cx="10144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18 chart types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3836968" y="6981349"/>
            <a:ext cx="10856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ECharts export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836968" y="7190899"/>
            <a:ext cx="12849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PPT-native charts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1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9618" y="656749"/>
            <a:ext cx="17068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366F1">
                    <a:alphaMod val="85000"/>
                  </a:srgbClr>
                </a:solidFill>
                <a:latin typeface="Segoe UI"/>
                <a:ea typeface="Microsoft YaHei"/>
                <a:cs typeface="Segoe UI"/>
              </a:rPr>
              <a:t>WORKFLOW INTEGRATION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6280" y="563880"/>
            <a:ext cx="757197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Five entry points, one Otto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2950" y="1457325"/>
            <a:ext cx="59312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No switching tools. Otto lives where your team works.</a:t>
            </a:r>
          </a:p>
        </p:txBody>
      </p:sp>
      <p:sp>
        <p:nvSpPr>
          <p:cNvPr id="6" name="Rectangle 6"/>
          <p:cNvSpPr/>
          <p:nvPr/>
        </p:nvSpPr>
        <p:spPr>
          <a:xfrm>
            <a:off x="1524000" y="2476500"/>
            <a:ext cx="15240000" cy="1333500"/>
          </a:xfrm>
          <a:prstGeom prst="roundRect">
            <a:avLst>
              <a:gd name="adj" fmla="val 14286"/>
            </a:avLst>
          </a:prstGeom>
          <a:solidFill>
            <a:srgbClr val="6366F1">
              <a:alpha val="8000"/>
            </a:srgbClr>
          </a:solidFill>
          <a:ln w="9525">
            <a:solidFill>
              <a:srgbClr val="6366F1">
                <a:alpha val="8000"/>
              </a:srgbClr>
            </a:solidFill>
          </a:ln>
        </p:spPr>
      </p:sp>
      <p:sp>
        <p:nvSpPr>
          <p:cNvPr id="7" name="Rectangle 7"/>
          <p:cNvSpPr/>
          <p:nvPr/>
        </p:nvSpPr>
        <p:spPr>
          <a:xfrm>
            <a:off x="1714500" y="2667000"/>
            <a:ext cx="952500" cy="95250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938652" y="3011805"/>
            <a:ext cx="50419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CLI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27045" y="2822258"/>
            <a:ext cx="10793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Terminal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32760" y="3156585"/>
            <a:ext cx="23964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Developers and power users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34665" y="3410902"/>
            <a:ext cx="30860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06080"/>
                </a:solidFill>
                <a:latin typeface="Segoe UI"/>
                <a:ea typeface="Microsoft YaHei"/>
                <a:cs typeface="Segoe UI"/>
              </a:rPr>
              <a:t>npm i -g otto, then otto, start chatting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524000" y="4191000"/>
            <a:ext cx="15240000" cy="1333500"/>
          </a:xfrm>
          <a:prstGeom prst="roundRect">
            <a:avLst>
              <a:gd name="adj" fmla="val 14286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8000"/>
              </a:srgbClr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1714500" y="4381500"/>
            <a:ext cx="952500" cy="952500"/>
          </a:xfrm>
          <a:prstGeom prst="roundRect">
            <a:avLst>
              <a:gd name="adj" fmla="val 20000"/>
            </a:avLst>
          </a:prstGeom>
          <a:solidFill>
            <a:srgbClr val="A855F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898397" y="4726305"/>
            <a:ext cx="5847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DSK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27045" y="4536758"/>
            <a:ext cx="150949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Desktop App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32760" y="4871085"/>
            <a:ext cx="274701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Electron native window, full GUI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034665" y="5125402"/>
            <a:ext cx="30630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06080"/>
                </a:solidFill>
                <a:latin typeface="Segoe UI"/>
                <a:ea typeface="Microsoft YaHei"/>
                <a:cs typeface="Segoe UI"/>
              </a:rPr>
              <a:t>Start menu, Otto, login once, always on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524000" y="5905500"/>
            <a:ext cx="15240000" cy="1333500"/>
          </a:xfrm>
          <a:prstGeom prst="roundRect">
            <a:avLst>
              <a:gd name="adj" fmla="val 14286"/>
            </a:avLst>
          </a:prstGeom>
          <a:solidFill>
            <a:srgbClr val="22C55E">
              <a:alpha val="8000"/>
            </a:srgbClr>
          </a:solidFill>
          <a:ln w="9525">
            <a:solidFill>
              <a:srgbClr val="22C55E">
                <a:alpha val="8000"/>
              </a:srgbClr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1714500" y="6096000"/>
            <a:ext cx="952500" cy="9525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898397" y="6440805"/>
            <a:ext cx="5847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SHU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27045" y="6251258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Feishu Bot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32760" y="6585585"/>
            <a:ext cx="25016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The most popular entry point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034665" y="6839902"/>
            <a:ext cx="29327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06080"/>
                </a:solidFill>
                <a:latin typeface="Segoe UI"/>
                <a:ea typeface="Microsoft YaHei"/>
                <a:cs typeface="Segoe UI"/>
              </a:rPr>
              <a:t>Team adds Otto bot, @Otto in any chat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524000" y="7620000"/>
            <a:ext cx="15240000" cy="1333500"/>
          </a:xfrm>
          <a:prstGeom prst="roundRect">
            <a:avLst>
              <a:gd name="adj" fmla="val 14286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>
                <a:alpha val="8000"/>
              </a:srgbClr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1714500" y="7810500"/>
            <a:ext cx="952500" cy="9525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986958" y="815530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VS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027045" y="7965758"/>
            <a:ext cx="16613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VSCode Plugin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032760" y="8300085"/>
            <a:ext cx="22562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IDE-embedded AI assistant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034665" y="8554402"/>
            <a:ext cx="27793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06080"/>
                </a:solidFill>
                <a:latin typeface="Segoe UI"/>
                <a:ea typeface="Microsoft YaHei"/>
                <a:cs typeface="Segoe UI"/>
              </a:rPr>
              <a:t>Extensions, Otto, inline completions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524000" y="9334500"/>
            <a:ext cx="15240000" cy="571500"/>
          </a:xfrm>
          <a:prstGeom prst="roundRect">
            <a:avLst>
              <a:gd name="adj" fmla="val 20000"/>
            </a:avLst>
          </a:prstGeom>
          <a:solidFill>
            <a:srgbClr val="151528"/>
          </a:solidFill>
          <a:ln w="9525">
            <a:solidFill>
              <a:srgbClr val="3A3A5E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890712" y="9594056"/>
            <a:ext cx="80631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All five entry points share the same backend server. One account, state synchronized everywhere.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1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9618" y="656749"/>
            <a:ext cx="13106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366F1">
                    <a:alphaMod val="85000"/>
                  </a:srgbClr>
                </a:solidFill>
                <a:latin typeface="Segoe UI"/>
                <a:ea typeface="Microsoft YaHei"/>
                <a:cs typeface="Segoe UI"/>
              </a:rPr>
              <a:t>TRUST AND PRIVACY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6280" y="563880"/>
            <a:ext cx="9393803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Enterprise-grade data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2950" y="1457325"/>
            <a:ext cx="78919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Your data never leaves your infrastructure unless you choose to share it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476500"/>
            <a:ext cx="5143500" cy="6096000"/>
          </a:xfrm>
          <a:prstGeom prst="roundRect">
            <a:avLst>
              <a:gd name="adj" fmla="val 3704"/>
            </a:avLst>
          </a:prstGeom>
          <a:solidFill>
            <a:srgbClr val="0A0A18"/>
          </a:solidFill>
          <a:ln w="9525">
            <a:solidFill>
              <a:srgbClr val="3A3A5E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1143000" y="2857500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36397" y="3011805"/>
            <a:ext cx="5847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LCK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2045" y="3727132"/>
            <a:ext cx="14462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Local-First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9665" y="4077652"/>
            <a:ext cx="19512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- All processing on-device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665" y="4344352"/>
            <a:ext cx="19512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- No cloud upload required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9665" y="46110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- Works fully offline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9665" y="4877752"/>
            <a:ext cx="18975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- Data encrypted at rest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572250" y="2476500"/>
            <a:ext cx="5143500" cy="6096000"/>
          </a:xfrm>
          <a:prstGeom prst="roundRect">
            <a:avLst>
              <a:gd name="adj" fmla="val 3704"/>
            </a:avLst>
          </a:prstGeom>
          <a:solidFill>
            <a:srgbClr val="0A0A18"/>
          </a:solidFill>
          <a:ln w="9525">
            <a:solidFill>
              <a:srgbClr val="3A3A5E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6953250" y="2857500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946647" y="3011805"/>
            <a:ext cx="5847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SRC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32295" y="3727132"/>
            <a:ext cx="243305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Source Traceability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39915" y="4077652"/>
            <a:ext cx="23729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- Every data point has a source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39915" y="4344352"/>
            <a:ext cx="22119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- Every quote cites its origin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39915" y="4611052"/>
            <a:ext cx="23882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- Audit trail for all generations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39915" y="4877752"/>
            <a:ext cx="20969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- Compliance-ready exports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2382500" y="2476500"/>
            <a:ext cx="5143500" cy="6096000"/>
          </a:xfrm>
          <a:prstGeom prst="roundRect">
            <a:avLst>
              <a:gd name="adj" fmla="val 3704"/>
            </a:avLst>
          </a:prstGeom>
          <a:solidFill>
            <a:srgbClr val="0A0A18"/>
          </a:solidFill>
          <a:ln w="9525">
            <a:solidFill>
              <a:srgbClr val="3A3A5E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12763500" y="2857500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2724693" y="3011805"/>
            <a:ext cx="64911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QLY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742545" y="3727132"/>
            <a:ext cx="171191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Quality Gates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750165" y="4077652"/>
            <a:ext cx="21812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- 7-stage checkpoint system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750165" y="4344352"/>
            <a:ext cx="25033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- Auto-validation before delivery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750165" y="4611052"/>
            <a:ext cx="25953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- Needs-Manual not fake-complete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750165" y="4877752"/>
            <a:ext cx="28176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- Incremental editing preserves work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1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9618" y="656749"/>
            <a:ext cx="11237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366F1">
                    <a:alphaMod val="85000"/>
                  </a:srgbClr>
                </a:solidFill>
                <a:latin typeface="Segoe UI"/>
                <a:ea typeface="Microsoft YaHei"/>
                <a:cs typeface="Segoe UI"/>
              </a:rPr>
              <a:t>IMPACT METRICS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6280" y="563880"/>
            <a:ext cx="11160423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Numbers that matter to your bottom line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2476500"/>
            <a:ext cx="5143500" cy="2857500"/>
          </a:xfrm>
          <a:prstGeom prst="roundRect">
            <a:avLst>
              <a:gd name="adj" fmla="val 6667"/>
            </a:avLst>
          </a:prstGeom>
          <a:solidFill>
            <a:srgbClr val="0A0A18"/>
          </a:solidFill>
          <a:ln w="9525">
            <a:solidFill>
              <a:srgbClr val="3A3A5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2581985" y="3036570"/>
            <a:ext cx="1503531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6366F1"/>
                </a:solidFill>
                <a:latin typeface="Segoe UI"/>
                <a:ea typeface="Microsoft YaHei"/>
                <a:cs typeface="Segoe UI"/>
              </a:rPr>
              <a:t>4h+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85009" y="3933825"/>
            <a:ext cx="30974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Time saved per person daily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4558" y="4355306"/>
            <a:ext cx="421838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McKinsey benchmark for AI-assisted knowledge work</a:t>
            </a:r>
          </a:p>
        </p:txBody>
      </p:sp>
      <p:sp>
        <p:nvSpPr>
          <p:cNvPr id="9" name="Rectangle 9"/>
          <p:cNvSpPr/>
          <p:nvPr/>
        </p:nvSpPr>
        <p:spPr>
          <a:xfrm>
            <a:off x="2667000" y="4762500"/>
            <a:ext cx="1333500" cy="19050"/>
          </a:xfrm>
          <a:prstGeom prst="rect">
            <a:avLst/>
          </a:prstGeom>
          <a:solidFill>
            <a:srgbClr val="6366F1">
              <a:alpha val="50000"/>
            </a:srgbClr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6572250" y="2476500"/>
            <a:ext cx="5143500" cy="2857500"/>
          </a:xfrm>
          <a:prstGeom prst="roundRect">
            <a:avLst>
              <a:gd name="adj" fmla="val 6667"/>
            </a:avLst>
          </a:prstGeom>
          <a:solidFill>
            <a:srgbClr val="0A0A18"/>
          </a:solidFill>
          <a:ln w="9525">
            <a:solidFill>
              <a:srgbClr val="3A3A5E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392235" y="3036570"/>
            <a:ext cx="1503531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22C55E"/>
                </a:solidFill>
                <a:latin typeface="Segoe UI"/>
                <a:ea typeface="Microsoft YaHei"/>
                <a:cs typeface="Segoe UI"/>
              </a:rPr>
              <a:t>68%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01010" y="3933825"/>
            <a:ext cx="308598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Repetitive task automation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1040" y="4355306"/>
            <a:ext cx="450592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Documents, emails, scheduling, data entry, formatting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477250" y="4762500"/>
            <a:ext cx="1333500" cy="19050"/>
          </a:xfrm>
          <a:prstGeom prst="rect">
            <a:avLst/>
          </a:prstGeom>
          <a:solidFill>
            <a:srgbClr val="22C55E">
              <a:alpha val="50000"/>
            </a:srgbClr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12382500" y="2476500"/>
            <a:ext cx="5143500" cy="2857500"/>
          </a:xfrm>
          <a:prstGeom prst="roundRect">
            <a:avLst>
              <a:gd name="adj" fmla="val 6667"/>
            </a:avLst>
          </a:prstGeom>
          <a:solidFill>
            <a:srgbClr val="0A0A18"/>
          </a:solidFill>
          <a:ln w="9525">
            <a:solidFill>
              <a:srgbClr val="3A3A5E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4430213" y="3036570"/>
            <a:ext cx="1048074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A855F7"/>
                </a:solidFill>
                <a:latin typeface="Segoe UI"/>
                <a:ea typeface="Microsoft YaHei"/>
                <a:cs typeface="Segoe UI"/>
              </a:rPr>
              <a:t>3x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670042" y="3933825"/>
            <a:ext cx="25684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Team output multiplier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06955" y="4355306"/>
            <a:ext cx="52945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With Otto handling overhead, teams focus on high-value decisions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4287500" y="4762500"/>
            <a:ext cx="1333500" cy="19050"/>
          </a:xfrm>
          <a:prstGeom prst="rect">
            <a:avLst/>
          </a:prstGeom>
          <a:solidFill>
            <a:srgbClr val="A855F7">
              <a:alpha val="50000"/>
            </a:srgbClr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762000" y="5905500"/>
            <a:ext cx="16764000" cy="3429000"/>
          </a:xfrm>
          <a:prstGeom prst="roundRect">
            <a:avLst>
              <a:gd name="adj" fmla="val 5556"/>
            </a:avLst>
          </a:prstGeom>
          <a:solidFill>
            <a:srgbClr val="0A0A18"/>
          </a:solidFill>
          <a:ln w="9525">
            <a:solidFill>
              <a:srgbClr val="3A3A5E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122045" y="6298882"/>
            <a:ext cx="589959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ROI Calculation for a 50-person knowledge team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7760" y="6918960"/>
            <a:ext cx="534962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50 people x 4 hours saved per day = 200 hours per day regained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7760" y="7299960"/>
            <a:ext cx="77068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200 hours per day x 250 working days = 50,000 hours per year of high-value work capacity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7760" y="7680960"/>
            <a:ext cx="84517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At an average fully-loaded cost of RMB 300 per hour = RMB 15 million per year in recovered capacity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5855" y="8331518"/>
            <a:ext cx="54687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2C55E"/>
                </a:solidFill>
                <a:latin typeface="Segoe UI"/>
                <a:ea typeface="Microsoft YaHei"/>
                <a:cs typeface="Segoe UI"/>
              </a:rPr>
              <a:t>Otto pays for itself in the first week of deployment.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9665" y="8744902"/>
            <a:ext cx="73109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06080"/>
                </a:solidFill>
                <a:latin typeface="Segoe UI"/>
                <a:ea typeface="Microsoft YaHei"/>
                <a:cs typeface="Segoe UI"/>
              </a:rPr>
              <a:t>Based on conservative 50% adoption rate. Actual results vary by team composition and workflow.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1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9618" y="656749"/>
            <a:ext cx="17442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366F1">
                    <a:alphaMod val="85000"/>
                  </a:srgbClr>
                </a:solidFill>
                <a:latin typeface="Segoe UI"/>
                <a:ea typeface="Microsoft YaHei"/>
                <a:cs typeface="Segoe UI"/>
              </a:rPr>
              <a:t>DEPLOYMENT AND PRICING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6280" y="563880"/>
            <a:ext cx="826206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Start today. Scale tomorrow.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2950" y="1457325"/>
            <a:ext cx="604075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Enterprise-grade infrastructure, transparent pricing.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476500"/>
            <a:ext cx="5143500" cy="6286500"/>
          </a:xfrm>
          <a:prstGeom prst="roundRect">
            <a:avLst>
              <a:gd name="adj" fmla="val 3704"/>
            </a:avLst>
          </a:prstGeom>
          <a:solidFill>
            <a:srgbClr val="0A0A18"/>
          </a:solidFill>
          <a:ln w="9525">
            <a:solidFill>
              <a:srgbClr val="3A3A5E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2476500"/>
            <a:ext cx="5143500" cy="952500"/>
          </a:xfrm>
          <a:prstGeom prst="roundRect">
            <a:avLst>
              <a:gd name="adj" fmla="val 20000"/>
            </a:avLst>
          </a:prstGeom>
          <a:solidFill>
            <a:srgbClr val="3A3A5E">
              <a:alpha val="15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485877" y="2821305"/>
            <a:ext cx="169574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Community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80754" y="3611880"/>
            <a:ext cx="13059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6366F1"/>
                </a:solidFill>
                <a:latin typeface="Segoe UI"/>
                <a:ea typeface="Microsoft YaHei"/>
                <a:cs typeface="Segoe UI"/>
              </a:rPr>
              <a:t>Free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20415" y="4077652"/>
            <a:ext cx="13761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All 8 built-in skills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20415" y="4344352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CLI + Desktop + VSCode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20415" y="4611052"/>
            <a:ext cx="12611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Local processing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320415" y="4877752"/>
            <a:ext cx="11308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GitHub support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20415" y="5144452"/>
            <a:ext cx="14068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Community Discord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20415" y="567785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Best for: Individual devs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572250" y="2476500"/>
            <a:ext cx="5143500" cy="6286500"/>
          </a:xfrm>
          <a:prstGeom prst="roundRect">
            <a:avLst>
              <a:gd name="adj" fmla="val 3704"/>
            </a:avLst>
          </a:prstGeom>
          <a:solidFill>
            <a:srgbClr val="0A0A18"/>
          </a:solidFill>
          <a:ln w="9525">
            <a:solidFill>
              <a:srgbClr val="6366F1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572250" y="2476500"/>
            <a:ext cx="5143500" cy="952500"/>
          </a:xfrm>
          <a:prstGeom prst="roundRect">
            <a:avLst>
              <a:gd name="adj" fmla="val 20000"/>
            </a:avLst>
          </a:prstGeom>
          <a:solidFill>
            <a:srgbClr val="6366F1">
              <a:alpha val="15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730882" y="2821305"/>
            <a:ext cx="82623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Team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49099" y="3611880"/>
            <a:ext cx="298980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6366F1"/>
                </a:solidFill>
                <a:latin typeface="Segoe UI"/>
                <a:ea typeface="Microsoft YaHei"/>
                <a:cs typeface="Segoe UI"/>
              </a:rPr>
              <a:t>Contact Us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30665" y="4077652"/>
            <a:ext cx="18362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Everything in Community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30665" y="4344352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Feishu bot integration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30665" y="4611052"/>
            <a:ext cx="17825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Shared team workspace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30665" y="4877752"/>
            <a:ext cx="12458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Admin dashboard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30665" y="5144452"/>
            <a:ext cx="12611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Priority support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30665" y="5411152"/>
            <a:ext cx="16215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Custom model routing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30665" y="5677852"/>
            <a:ext cx="22656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Best for: 5-200 person teams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2382500" y="2476500"/>
            <a:ext cx="5143500" cy="6286500"/>
          </a:xfrm>
          <a:prstGeom prst="roundRect">
            <a:avLst>
              <a:gd name="adj" fmla="val 3704"/>
            </a:avLst>
          </a:prstGeom>
          <a:solidFill>
            <a:srgbClr val="0A0A18"/>
          </a:solidFill>
          <a:ln w="9525">
            <a:solidFill>
              <a:srgbClr val="A855F7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12382500" y="2476500"/>
            <a:ext cx="5143500" cy="952500"/>
          </a:xfrm>
          <a:prstGeom prst="roundRect">
            <a:avLst>
              <a:gd name="adj" fmla="val 20000"/>
            </a:avLst>
          </a:prstGeom>
          <a:solidFill>
            <a:srgbClr val="A855F7">
              <a:alpha val="15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4082224" y="2821305"/>
            <a:ext cx="174405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Enterprise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942409" y="3611880"/>
            <a:ext cx="202368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A855F7"/>
                </a:solidFill>
                <a:latin typeface="Segoe UI"/>
                <a:ea typeface="Microsoft YaHei"/>
                <a:cs typeface="Segoe UI"/>
              </a:rPr>
              <a:t>Custom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940915" y="4077652"/>
            <a:ext cx="14221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Everything in Team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940915" y="4344352"/>
            <a:ext cx="17748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On-premise deployment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940915" y="4611052"/>
            <a:ext cx="13685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SSO / SAML / LDAP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940915" y="4877752"/>
            <a:ext cx="9697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Audit logging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940915" y="5144452"/>
            <a:ext cx="10464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Dedicated SLA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940915" y="5411152"/>
            <a:ext cx="18822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Custom skill development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940915" y="5677852"/>
            <a:ext cx="21966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Best for: 200+ organizations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561386" y="9221152"/>
            <a:ext cx="71652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06080"/>
                </a:solidFill>
                <a:latin typeface="Segoe UI"/>
                <a:ea typeface="Microsoft YaHei"/>
                <a:cs typeface="Segoe UI"/>
              </a:rPr>
              <a:t>All tiers include unlimited local generation. Cloud features available with API key configuration.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1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9618" y="656749"/>
            <a:ext cx="6602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366F1">
                    <a:alphaMod val="85000"/>
                  </a:srgbClr>
                </a:solidFill>
                <a:latin typeface="Segoe UI"/>
                <a:ea typeface="Microsoft YaHei"/>
                <a:cs typeface="Segoe UI"/>
              </a:rPr>
              <a:t>ROADMAP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6280" y="563880"/>
            <a:ext cx="693709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What we are building next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2950" y="1457325"/>
            <a:ext cx="60298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Shipping every 2 weeks. Customer requests prioritized.</a:t>
            </a:r>
          </a:p>
        </p:txBody>
      </p:sp>
      <p:sp>
        <p:nvSpPr>
          <p:cNvPr id="6" name="Line 6"/>
          <p:cNvSpPr/>
          <p:nvPr/>
        </p:nvSpPr>
        <p:spPr>
          <a:xfrm>
            <a:off x="2857500" y="3238500"/>
            <a:ext cx="13716000" cy="9525"/>
          </a:xfrm>
          <a:custGeom>
            <a:avLst/>
            <a:gdLst/>
            <a:ahLst/>
            <a:cxnLst/>
            <a:rect l="l" t="t" r="r" b="b"/>
            <a:pathLst>
              <a:path w="13716000" h="9525">
                <a:moveTo>
                  <a:pt x="0" y="0"/>
                </a:moveTo>
                <a:lnTo>
                  <a:pt x="13716000" y="0"/>
                </a:lnTo>
              </a:path>
            </a:pathLst>
          </a:custGeom>
          <a:noFill/>
          <a:ln w="19050">
            <a:solidFill>
              <a:srgbClr val="3A3A5E"/>
            </a:solidFill>
          </a:ln>
        </p:spPr>
      </p:sp>
      <p:sp>
        <p:nvSpPr>
          <p:cNvPr id="7" name="Ellipse 7"/>
          <p:cNvSpPr/>
          <p:nvPr/>
        </p:nvSpPr>
        <p:spPr>
          <a:xfrm>
            <a:off x="5029200" y="3124200"/>
            <a:ext cx="228600" cy="228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8" name="Line 8"/>
          <p:cNvSpPr/>
          <p:nvPr/>
        </p:nvSpPr>
        <p:spPr>
          <a:xfrm>
            <a:off x="5143500" y="3352800"/>
            <a:ext cx="9525" cy="3314700"/>
          </a:xfrm>
          <a:custGeom>
            <a:avLst/>
            <a:gdLst/>
            <a:ahLst/>
            <a:cxnLst/>
            <a:rect l="l" t="t" r="r" b="b"/>
            <a:pathLst>
              <a:path w="9525" h="3314700">
                <a:moveTo>
                  <a:pt x="0" y="0"/>
                </a:moveTo>
                <a:lnTo>
                  <a:pt x="0" y="3314700"/>
                </a:lnTo>
              </a:path>
            </a:pathLst>
          </a:custGeom>
          <a:noFill/>
          <a:ln w="19050">
            <a:solidFill>
              <a:srgbClr val="6366F1">
                <a:alpha val="20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687395" y="3648075"/>
            <a:ext cx="9122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Q3 2026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857500" y="4572000"/>
            <a:ext cx="4572000" cy="571500"/>
          </a:xfrm>
          <a:prstGeom prst="roundRect">
            <a:avLst>
              <a:gd name="adj" fmla="val 20000"/>
            </a:avLst>
          </a:prstGeom>
          <a:solidFill>
            <a:srgbClr val="0A0A18">
              <a:alpha val="80000"/>
            </a:srgbClr>
          </a:solidFill>
          <a:ln w="9525">
            <a:solidFill>
              <a:srgbClr val="6366F1">
                <a:alpha val="80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995612" y="4812506"/>
            <a:ext cx="373778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Multi-model routing (GPT-5, Claude, Gemini)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857500" y="5334000"/>
            <a:ext cx="4572000" cy="571500"/>
          </a:xfrm>
          <a:prstGeom prst="roundRect">
            <a:avLst>
              <a:gd name="adj" fmla="val 20000"/>
            </a:avLst>
          </a:prstGeom>
          <a:solidFill>
            <a:srgbClr val="0A0A18">
              <a:alpha val="80000"/>
            </a:srgbClr>
          </a:solidFill>
          <a:ln w="9525">
            <a:solidFill>
              <a:srgbClr val="6366F1">
                <a:alpha val="80000"/>
              </a:srgbClr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2995612" y="5574506"/>
            <a:ext cx="21937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Collaborative deck editing</a:t>
            </a:r>
          </a:p>
        </p:txBody>
      </p:sp>
      <p:sp>
        <p:nvSpPr>
          <p:cNvPr id="14" name="Rectangle 14"/>
          <p:cNvSpPr/>
          <p:nvPr/>
        </p:nvSpPr>
        <p:spPr>
          <a:xfrm>
            <a:off x="2857500" y="6096000"/>
            <a:ext cx="4572000" cy="571500"/>
          </a:xfrm>
          <a:prstGeom prst="roundRect">
            <a:avLst>
              <a:gd name="adj" fmla="val 20000"/>
            </a:avLst>
          </a:prstGeom>
          <a:solidFill>
            <a:srgbClr val="0A0A18">
              <a:alpha val="80000"/>
            </a:srgbClr>
          </a:solidFill>
          <a:ln w="9525">
            <a:solidFill>
              <a:srgbClr val="6366F1">
                <a:alpha val="80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2995612" y="6336506"/>
            <a:ext cx="1779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Mobile companion app</a:t>
            </a:r>
          </a:p>
        </p:txBody>
      </p:sp>
      <p:sp>
        <p:nvSpPr>
          <p:cNvPr id="16" name="Ellipse 16"/>
          <p:cNvSpPr/>
          <p:nvPr/>
        </p:nvSpPr>
        <p:spPr>
          <a:xfrm>
            <a:off x="9029700" y="3124200"/>
            <a:ext cx="228600" cy="2286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17" name="Line 17"/>
          <p:cNvSpPr/>
          <p:nvPr/>
        </p:nvSpPr>
        <p:spPr>
          <a:xfrm>
            <a:off x="9144000" y="3352800"/>
            <a:ext cx="9525" cy="3314700"/>
          </a:xfrm>
          <a:custGeom>
            <a:avLst/>
            <a:gdLst/>
            <a:ahLst/>
            <a:cxnLst/>
            <a:rect l="l" t="t" r="r" b="b"/>
            <a:pathLst>
              <a:path w="9525" h="3314700">
                <a:moveTo>
                  <a:pt x="0" y="0"/>
                </a:moveTo>
                <a:lnTo>
                  <a:pt x="0" y="3314700"/>
                </a:lnTo>
              </a:path>
            </a:pathLst>
          </a:custGeom>
          <a:noFill/>
          <a:ln w="19050">
            <a:solidFill>
              <a:srgbClr val="22C55E">
                <a:alpha val="20000"/>
              </a:srgbClr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8687895" y="3648075"/>
            <a:ext cx="9122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Q4 2026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858000" y="4572000"/>
            <a:ext cx="4572000" cy="571500"/>
          </a:xfrm>
          <a:prstGeom prst="roundRect">
            <a:avLst>
              <a:gd name="adj" fmla="val 20000"/>
            </a:avLst>
          </a:prstGeom>
          <a:solidFill>
            <a:srgbClr val="0A0A18">
              <a:alpha val="80000"/>
            </a:srgbClr>
          </a:solidFill>
          <a:ln w="9525">
            <a:solidFill>
              <a:srgbClr val="22C55E">
                <a:alpha val="80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996112" y="4812506"/>
            <a:ext cx="27544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Enterprise SSO and audit logging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858000" y="5334000"/>
            <a:ext cx="4572000" cy="571500"/>
          </a:xfrm>
          <a:prstGeom prst="roundRect">
            <a:avLst>
              <a:gd name="adj" fmla="val 20000"/>
            </a:avLst>
          </a:prstGeom>
          <a:solidFill>
            <a:srgbClr val="0A0A18">
              <a:alpha val="80000"/>
            </a:srgbClr>
          </a:solidFill>
          <a:ln w="9525">
            <a:solidFill>
              <a:srgbClr val="22C55E">
                <a:alpha val="80000"/>
              </a:srgbClr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996112" y="5574506"/>
            <a:ext cx="21160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Custom skill marketplace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858000" y="6096000"/>
            <a:ext cx="4572000" cy="571500"/>
          </a:xfrm>
          <a:prstGeom prst="roundRect">
            <a:avLst>
              <a:gd name="adj" fmla="val 20000"/>
            </a:avLst>
          </a:prstGeom>
          <a:solidFill>
            <a:srgbClr val="0A0A18">
              <a:alpha val="80000"/>
            </a:srgbClr>
          </a:solidFill>
          <a:ln w="9525">
            <a:solidFill>
              <a:srgbClr val="22C55E">
                <a:alpha val="80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996112" y="6336506"/>
            <a:ext cx="25128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Advanced analytics dashboard</a:t>
            </a:r>
          </a:p>
        </p:txBody>
      </p:sp>
      <p:sp>
        <p:nvSpPr>
          <p:cNvPr id="25" name="Ellipse 25"/>
          <p:cNvSpPr/>
          <p:nvPr/>
        </p:nvSpPr>
        <p:spPr>
          <a:xfrm>
            <a:off x="13030200" y="3124200"/>
            <a:ext cx="228600" cy="2286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26" name="Line 26"/>
          <p:cNvSpPr/>
          <p:nvPr/>
        </p:nvSpPr>
        <p:spPr>
          <a:xfrm>
            <a:off x="13144500" y="3352800"/>
            <a:ext cx="9525" cy="3314700"/>
          </a:xfrm>
          <a:custGeom>
            <a:avLst/>
            <a:gdLst/>
            <a:ahLst/>
            <a:cxnLst/>
            <a:rect l="l" t="t" r="r" b="b"/>
            <a:pathLst>
              <a:path w="9525" h="3314700">
                <a:moveTo>
                  <a:pt x="0" y="0"/>
                </a:moveTo>
                <a:lnTo>
                  <a:pt x="0" y="3314700"/>
                </a:lnTo>
              </a:path>
            </a:pathLst>
          </a:custGeom>
          <a:noFill/>
          <a:ln w="19050">
            <a:solidFill>
              <a:srgbClr val="A855F7">
                <a:alpha val="20000"/>
              </a:srgbClr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2809160" y="3648075"/>
            <a:ext cx="6706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2027+</a:t>
            </a:r>
          </a:p>
        </p:txBody>
      </p:sp>
      <p:sp>
        <p:nvSpPr>
          <p:cNvPr id="28" name="Rectangle 28"/>
          <p:cNvSpPr/>
          <p:nvPr/>
        </p:nvSpPr>
        <p:spPr>
          <a:xfrm>
            <a:off x="10858500" y="4572000"/>
            <a:ext cx="4572000" cy="571500"/>
          </a:xfrm>
          <a:prstGeom prst="roundRect">
            <a:avLst>
              <a:gd name="adj" fmla="val 20000"/>
            </a:avLst>
          </a:prstGeom>
          <a:solidFill>
            <a:srgbClr val="0A0A18">
              <a:alpha val="80000"/>
            </a:srgbClr>
          </a:solidFill>
          <a:ln w="9525">
            <a:solidFill>
              <a:srgbClr val="A855F7">
                <a:alpha val="80000"/>
              </a:srgbClr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996612" y="4812506"/>
            <a:ext cx="22627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Multi-agent orchestration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0858500" y="5334000"/>
            <a:ext cx="4572000" cy="571500"/>
          </a:xfrm>
          <a:prstGeom prst="roundRect">
            <a:avLst>
              <a:gd name="adj" fmla="val 20000"/>
            </a:avLst>
          </a:prstGeom>
          <a:solidFill>
            <a:srgbClr val="0A0A18">
              <a:alpha val="80000"/>
            </a:srgbClr>
          </a:solidFill>
          <a:ln w="9525">
            <a:solidFill>
              <a:srgbClr val="A855F7">
                <a:alpha val="80000"/>
              </a:srgbClr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996612" y="5574506"/>
            <a:ext cx="24352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Industry-specific skill packs</a:t>
            </a:r>
          </a:p>
        </p:txBody>
      </p:sp>
      <p:sp>
        <p:nvSpPr>
          <p:cNvPr id="32" name="Rectangle 32"/>
          <p:cNvSpPr/>
          <p:nvPr/>
        </p:nvSpPr>
        <p:spPr>
          <a:xfrm>
            <a:off x="10858500" y="6096000"/>
            <a:ext cx="4572000" cy="571500"/>
          </a:xfrm>
          <a:prstGeom prst="roundRect">
            <a:avLst>
              <a:gd name="adj" fmla="val 20000"/>
            </a:avLst>
          </a:prstGeom>
          <a:solidFill>
            <a:srgbClr val="0A0A18">
              <a:alpha val="80000"/>
            </a:srgbClr>
          </a:solidFill>
          <a:ln w="9525">
            <a:solidFill>
              <a:srgbClr val="A855F7">
                <a:alpha val="80000"/>
              </a:srgbClr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996612" y="6336506"/>
            <a:ext cx="29528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On-premise air-gapped deployment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879592" y="7982902"/>
            <a:ext cx="65288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06080"/>
                </a:solidFill>
                <a:latin typeface="Segoe UI"/>
                <a:ea typeface="Microsoft YaHei"/>
                <a:cs typeface="Segoe UI"/>
              </a:rPr>
              <a:t>Priorities evolve based on customer feedback. Join the beta to influence the roadmap.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1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9618" y="656749"/>
            <a:ext cx="16993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366F1">
                    <a:alphaMod val="85000"/>
                  </a:srgbClr>
                </a:solidFill>
                <a:latin typeface="Segoe UI"/>
                <a:ea typeface="Microsoft YaHei"/>
                <a:cs typeface="Segoe UI"/>
              </a:rPr>
              <a:t>COMPETITIVE LANDSCAPE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6280" y="563880"/>
            <a:ext cx="961463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Why Otto wins for real office work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2950" y="1457325"/>
            <a:ext cx="55478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Compared against the tools teams actually evaluate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2381250"/>
            <a:ext cx="17145000" cy="571500"/>
          </a:xfrm>
          <a:prstGeom prst="roundRect">
            <a:avLst>
              <a:gd name="adj" fmla="val 20000"/>
            </a:avLst>
          </a:prstGeom>
          <a:solidFill>
            <a:srgbClr val="151528">
              <a:alpha val="7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36308" y="2605564"/>
            <a:ext cx="78515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Feature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37760" y="2613660"/>
            <a:ext cx="4511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Otto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95260" y="2613660"/>
            <a:ext cx="6176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Copilot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52760" y="26136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Notion AI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10260" y="261366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Gamma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3143250"/>
            <a:ext cx="17145000" cy="571500"/>
          </a:xfrm>
          <a:prstGeom prst="roundRect">
            <a:avLst>
              <a:gd name="adj" fmla="val 20000"/>
            </a:avLst>
          </a:prstGeom>
          <a:solidFill>
            <a:srgbClr val="0A0A18">
              <a:alpha val="7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36308" y="3367564"/>
            <a:ext cx="19876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Natural language PPT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37760" y="3375660"/>
            <a:ext cx="10206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2C55E"/>
                </a:solidFill>
                <a:latin typeface="Segoe UI"/>
                <a:ea typeface="Microsoft YaHei"/>
                <a:cs typeface="Segoe UI"/>
              </a:rPr>
              <a:t>Full pipeline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95260" y="3375660"/>
            <a:ext cx="4686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59E0B"/>
                </a:solidFill>
                <a:latin typeface="Segoe UI"/>
                <a:ea typeface="Microsoft YaHei"/>
                <a:cs typeface="Segoe UI"/>
              </a:rPr>
              <a:t>Basic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52760" y="337566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43F5E"/>
                </a:solidFill>
                <a:latin typeface="Segoe UI"/>
                <a:ea typeface="Microsoft YaHei"/>
                <a:cs typeface="Segoe UI"/>
              </a:rPr>
              <a:t>None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10260" y="3375660"/>
            <a:ext cx="12310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59E0B"/>
                </a:solidFill>
                <a:latin typeface="Segoe UI"/>
                <a:ea typeface="Microsoft YaHei"/>
                <a:cs typeface="Segoe UI"/>
              </a:rPr>
              <a:t>Template-only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3905250"/>
            <a:ext cx="17145000" cy="571500"/>
          </a:xfrm>
          <a:prstGeom prst="roundRect">
            <a:avLst>
              <a:gd name="adj" fmla="val 20000"/>
            </a:avLst>
          </a:prstGeom>
          <a:solidFill>
            <a:srgbClr val="151528">
              <a:alpha val="7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36308" y="4129564"/>
            <a:ext cx="19876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Editable PPTX output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37760" y="4137660"/>
            <a:ext cx="13011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2C55E"/>
                </a:solidFill>
                <a:latin typeface="Segoe UI"/>
                <a:ea typeface="Microsoft YaHei"/>
                <a:cs typeface="Segoe UI"/>
              </a:rPr>
              <a:t>Native editable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95260" y="4137660"/>
            <a:ext cx="6176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59E0B"/>
                </a:solidFill>
                <a:latin typeface="Segoe UI"/>
                <a:ea typeface="Microsoft YaHei"/>
                <a:cs typeface="Segoe UI"/>
              </a:rPr>
              <a:t>Partial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52760" y="4137660"/>
            <a:ext cx="10031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59E0B"/>
                </a:solidFill>
                <a:latin typeface="Segoe UI"/>
                <a:ea typeface="Microsoft YaHei"/>
                <a:cs typeface="Segoe UI"/>
              </a:rPr>
              <a:t>Export only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510260" y="4137660"/>
            <a:ext cx="6526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43F5E"/>
                </a:solidFill>
                <a:latin typeface="Segoe UI"/>
                <a:ea typeface="Microsoft YaHei"/>
                <a:cs typeface="Segoe UI"/>
              </a:rPr>
              <a:t>Limited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4667250"/>
            <a:ext cx="17145000" cy="571500"/>
          </a:xfrm>
          <a:prstGeom prst="roundRect">
            <a:avLst>
              <a:gd name="adj" fmla="val 20000"/>
            </a:avLst>
          </a:prstGeom>
          <a:solidFill>
            <a:srgbClr val="0A0A18">
              <a:alpha val="70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36308" y="4891564"/>
            <a:ext cx="231024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Feishu/Lark integration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37760" y="4899660"/>
            <a:ext cx="14413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2C55E"/>
                </a:solidFill>
                <a:latin typeface="Segoe UI"/>
                <a:ea typeface="Microsoft YaHei"/>
                <a:cs typeface="Segoe UI"/>
              </a:rPr>
              <a:t>Deep integration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795260" y="489966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55F7"/>
                </a:solidFill>
                <a:latin typeface="Segoe UI"/>
                <a:ea typeface="Microsoft YaHei"/>
                <a:cs typeface="Segoe UI"/>
              </a:rPr>
              <a:t>None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652760" y="489966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55F7"/>
                </a:solidFill>
                <a:latin typeface="Segoe UI"/>
                <a:ea typeface="Microsoft YaHei"/>
                <a:cs typeface="Segoe UI"/>
              </a:rPr>
              <a:t>None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510260" y="489966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55F7"/>
                </a:solidFill>
                <a:latin typeface="Segoe UI"/>
                <a:ea typeface="Microsoft YaHei"/>
                <a:cs typeface="Segoe UI"/>
              </a:rPr>
              <a:t>None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5429250"/>
            <a:ext cx="17145000" cy="571500"/>
          </a:xfrm>
          <a:prstGeom prst="roundRect">
            <a:avLst>
              <a:gd name="adj" fmla="val 20000"/>
            </a:avLst>
          </a:prstGeom>
          <a:solidFill>
            <a:srgbClr val="151528">
              <a:alpha val="70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36308" y="5653564"/>
            <a:ext cx="209516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Local data processing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937760" y="5661660"/>
            <a:ext cx="7753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2C55E"/>
                </a:solidFill>
                <a:latin typeface="Segoe UI"/>
                <a:ea typeface="Microsoft YaHei"/>
                <a:cs typeface="Segoe UI"/>
              </a:rPr>
              <a:t>Full local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95260" y="56616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43F5E"/>
                </a:solidFill>
                <a:latin typeface="Segoe UI"/>
                <a:ea typeface="Microsoft YaHei"/>
                <a:cs typeface="Segoe UI"/>
              </a:rPr>
              <a:t>Cloud-only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652760" y="56616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43F5E"/>
                </a:solidFill>
                <a:latin typeface="Segoe UI"/>
                <a:ea typeface="Microsoft YaHei"/>
                <a:cs typeface="Segoe UI"/>
              </a:rPr>
              <a:t>Cloud-only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510260" y="56616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43F5E"/>
                </a:solidFill>
                <a:latin typeface="Segoe UI"/>
                <a:ea typeface="Microsoft YaHei"/>
                <a:cs typeface="Segoe UI"/>
              </a:rPr>
              <a:t>Cloud-only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6191250"/>
            <a:ext cx="17145000" cy="571500"/>
          </a:xfrm>
          <a:prstGeom prst="roundRect">
            <a:avLst>
              <a:gd name="adj" fmla="val 20000"/>
            </a:avLst>
          </a:prstGeom>
          <a:solidFill>
            <a:srgbClr val="0A0A18">
              <a:alpha val="70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36308" y="6415564"/>
            <a:ext cx="188009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Source traceability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937760" y="6423660"/>
            <a:ext cx="67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2C55E"/>
                </a:solidFill>
                <a:latin typeface="Segoe UI"/>
                <a:ea typeface="Microsoft YaHei"/>
                <a:cs typeface="Segoe UI"/>
              </a:rPr>
              <a:t>Built-in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795260" y="642366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55F7"/>
                </a:solidFill>
                <a:latin typeface="Segoe UI"/>
                <a:ea typeface="Microsoft YaHei"/>
                <a:cs typeface="Segoe UI"/>
              </a:rPr>
              <a:t>None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652760" y="642366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55F7"/>
                </a:solidFill>
                <a:latin typeface="Segoe UI"/>
                <a:ea typeface="Microsoft YaHei"/>
                <a:cs typeface="Segoe UI"/>
              </a:rPr>
              <a:t>None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510260" y="642366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55F7"/>
                </a:solidFill>
                <a:latin typeface="Segoe UI"/>
                <a:ea typeface="Microsoft YaHei"/>
                <a:cs typeface="Segoe UI"/>
              </a:rPr>
              <a:t>None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6953250"/>
            <a:ext cx="17145000" cy="571500"/>
          </a:xfrm>
          <a:prstGeom prst="roundRect">
            <a:avLst>
              <a:gd name="adj" fmla="val 20000"/>
            </a:avLst>
          </a:prstGeom>
          <a:solidFill>
            <a:srgbClr val="151528">
              <a:alpha val="70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36308" y="7177564"/>
            <a:ext cx="152814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Cross-platform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937760" y="7185660"/>
            <a:ext cx="12660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2C55E"/>
                </a:solidFill>
                <a:latin typeface="Segoe UI"/>
                <a:ea typeface="Microsoft YaHei"/>
                <a:cs typeface="Segoe UI"/>
              </a:rPr>
              <a:t>Win/Mac/Linux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95260" y="71856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59E0B"/>
                </a:solidFill>
                <a:latin typeface="Segoe UI"/>
                <a:ea typeface="Microsoft YaHei"/>
                <a:cs typeface="Segoe UI"/>
              </a:rPr>
              <a:t>Win/Mac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652760" y="7185660"/>
            <a:ext cx="7928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59E0B"/>
                </a:solidFill>
                <a:latin typeface="Segoe UI"/>
                <a:ea typeface="Microsoft YaHei"/>
                <a:cs typeface="Segoe UI"/>
              </a:rPr>
              <a:t>Web-only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510260" y="7185660"/>
            <a:ext cx="7928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59E0B"/>
                </a:solidFill>
                <a:latin typeface="Segoe UI"/>
                <a:ea typeface="Microsoft YaHei"/>
                <a:cs typeface="Segoe UI"/>
              </a:rPr>
              <a:t>Web-only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7715250"/>
            <a:ext cx="17145000" cy="571500"/>
          </a:xfrm>
          <a:prstGeom prst="roundRect">
            <a:avLst>
              <a:gd name="adj" fmla="val 20000"/>
            </a:avLst>
          </a:prstGeom>
          <a:solidFill>
            <a:srgbClr val="0A0A18">
              <a:alpha val="70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36308" y="7939564"/>
            <a:ext cx="12055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Open source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937760" y="794766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2C55E"/>
                </a:solidFill>
                <a:latin typeface="Segoe UI"/>
                <a:ea typeface="Microsoft YaHei"/>
                <a:cs typeface="Segoe UI"/>
              </a:rPr>
              <a:t>Apache 2.0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795260" y="7947660"/>
            <a:ext cx="10469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43F5E"/>
                </a:solidFill>
                <a:latin typeface="Segoe UI"/>
                <a:ea typeface="Microsoft YaHei"/>
                <a:cs typeface="Segoe UI"/>
              </a:rPr>
              <a:t>Proprietary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652760" y="7947660"/>
            <a:ext cx="6176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59E0B"/>
                </a:solidFill>
                <a:latin typeface="Segoe UI"/>
                <a:ea typeface="Microsoft YaHei"/>
                <a:cs typeface="Segoe UI"/>
              </a:rPr>
              <a:t>Partial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510260" y="7947660"/>
            <a:ext cx="10469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43F5E"/>
                </a:solidFill>
                <a:latin typeface="Segoe UI"/>
                <a:ea typeface="Microsoft YaHei"/>
                <a:cs typeface="Segoe UI"/>
              </a:rPr>
              <a:t>Proprietary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71500" y="8477250"/>
            <a:ext cx="17145000" cy="571500"/>
          </a:xfrm>
          <a:prstGeom prst="roundRect">
            <a:avLst>
              <a:gd name="adj" fmla="val 20000"/>
            </a:avLst>
          </a:prstGeom>
          <a:solidFill>
            <a:srgbClr val="151528">
              <a:alpha val="70000"/>
            </a:srgbClr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936308" y="8701564"/>
            <a:ext cx="229069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Self-hosted deployment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937760" y="8709660"/>
            <a:ext cx="10469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2C55E"/>
                </a:solidFill>
                <a:latin typeface="Segoe UI"/>
                <a:ea typeface="Microsoft YaHei"/>
                <a:cs typeface="Segoe UI"/>
              </a:rPr>
              <a:t>Self-hosted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795260" y="8709660"/>
            <a:ext cx="8103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43F5E"/>
                </a:solidFill>
                <a:latin typeface="Segoe UI"/>
                <a:ea typeface="Microsoft YaHei"/>
                <a:cs typeface="Segoe UI"/>
              </a:rPr>
              <a:t>SaaS only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652760" y="8709660"/>
            <a:ext cx="8103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43F5E"/>
                </a:solidFill>
                <a:latin typeface="Segoe UI"/>
                <a:ea typeface="Microsoft YaHei"/>
                <a:cs typeface="Segoe UI"/>
              </a:rPr>
              <a:t>SaaS only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3510260" y="8709660"/>
            <a:ext cx="8103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43F5E"/>
                </a:solidFill>
                <a:latin typeface="Segoe UI"/>
                <a:ea typeface="Microsoft YaHei"/>
                <a:cs typeface="Segoe UI"/>
              </a:rPr>
              <a:t>SaaS only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939665" y="2125028"/>
            <a:ext cx="4131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06080"/>
                </a:solidFill>
                <a:latin typeface="Segoe UI"/>
                <a:ea typeface="Microsoft YaHei"/>
                <a:cs typeface="Segoe UI"/>
              </a:rPr>
              <a:t>Otto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797165" y="2125028"/>
            <a:ext cx="5660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06080"/>
                </a:solidFill>
                <a:latin typeface="Segoe UI"/>
                <a:ea typeface="Microsoft YaHei"/>
                <a:cs typeface="Segoe UI"/>
              </a:rPr>
              <a:t>Copilot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654665" y="2125028"/>
            <a:ext cx="702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06080"/>
                </a:solidFill>
                <a:latin typeface="Segoe UI"/>
                <a:ea typeface="Microsoft YaHei"/>
                <a:cs typeface="Segoe UI"/>
              </a:rPr>
              <a:t>Notion AI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3512165" y="2125028"/>
            <a:ext cx="5338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06080"/>
                </a:solidFill>
                <a:latin typeface="Segoe UI"/>
                <a:ea typeface="Microsoft YaHei"/>
                <a:cs typeface="Segoe UI"/>
              </a:rPr>
              <a:t>Gamma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566470" y="9411652"/>
            <a:ext cx="31550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2C55E"/>
                </a:solidFill>
                <a:latin typeface="Segoe UI"/>
                <a:ea typeface="Microsoft YaHei"/>
                <a:cs typeface="Segoe UI"/>
              </a:rPr>
              <a:t>Green = Full | Orange = Partial | Red = None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510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952500" y="-952500"/>
            <a:ext cx="7620000" cy="7620000"/>
          </a:xfrm>
          <a:prstGeom prst="ellipse">
            <a:avLst/>
          </a:prstGeom>
          <a:solidFill>
            <a:srgbClr val="6366F1">
              <a:alpha val="10000"/>
            </a:srgbClr>
          </a:solidFill>
          <a:ln>
            <a:noFill/>
          </a:ln>
          <a:effectLst>
            <a:glow rad="762000">
              <a:srgbClr val="000000">
                <a:alpha val="30000"/>
              </a:srgbClr>
            </a:glow>
          </a:effectLst>
        </p:spPr>
      </p:sp>
      <p:sp>
        <p:nvSpPr>
          <p:cNvPr id="4" name="Ellipse 4"/>
          <p:cNvSpPr/>
          <p:nvPr/>
        </p:nvSpPr>
        <p:spPr>
          <a:xfrm>
            <a:off x="11906250" y="3810000"/>
            <a:ext cx="6667500" cy="6667500"/>
          </a:xfrm>
          <a:prstGeom prst="ellipse">
            <a:avLst/>
          </a:prstGeom>
          <a:solidFill>
            <a:srgbClr val="A855F7">
              <a:alpha val="8000"/>
            </a:srgbClr>
          </a:solidFill>
          <a:ln>
            <a:noFill/>
          </a:ln>
          <a:effectLst>
            <a:glow rad="762000">
              <a:srgbClr val="000000">
                <a:alpha val="30000"/>
              </a:srgbClr>
            </a:glow>
          </a:effectLst>
        </p:spPr>
      </p:sp>
      <p:sp>
        <p:nvSpPr>
          <p:cNvPr id="5" name="TextBox 5"/>
          <p:cNvSpPr txBox="1"/>
          <p:nvPr/>
        </p:nvSpPr>
        <p:spPr>
          <a:xfrm>
            <a:off x="5180314" y="2590800"/>
            <a:ext cx="7927372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gradFill>
                  <a:gsLst>
                    <a:gs pos="0">
                      <a:srgbClr val="6366F1"/>
                    </a:gs>
                    <a:gs pos="100000">
                      <a:srgbClr val="A855F7"/>
                    </a:gs>
                  </a:gsLst>
                  <a:lin ang="2700000" scaled="1"/>
                </a:gradFill>
                <a:latin typeface="Segoe UI"/>
                <a:ea typeface="Microsoft YaHei"/>
                <a:cs typeface="Segoe UI"/>
              </a:rPr>
              <a:t>Your Team + Otto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58982" y="3867150"/>
            <a:ext cx="677003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F0F0F8"/>
                </a:solidFill>
                <a:latin typeface="Segoe UI"/>
                <a:ea typeface="Microsoft YaHei"/>
                <a:cs typeface="Segoe UI"/>
              </a:rPr>
              <a:t>The future of knowledge work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30143" y="4965382"/>
            <a:ext cx="342771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9090B0"/>
                </a:solidFill>
                <a:latin typeface="Segoe UI"/>
                <a:ea typeface="Microsoft YaHei"/>
                <a:cs typeface="Segoe UI"/>
              </a:rPr>
              <a:t>github.com/Felix201209/otto</a:t>
            </a:r>
          </a:p>
        </p:txBody>
      </p:sp>
      <p:sp>
        <p:nvSpPr>
          <p:cNvPr id="8" name="Rectangle 8"/>
          <p:cNvSpPr/>
          <p:nvPr/>
        </p:nvSpPr>
        <p:spPr>
          <a:xfrm>
            <a:off x="7239000" y="6096000"/>
            <a:ext cx="3810000" cy="6096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826258" y="6317932"/>
            <a:ext cx="263548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Request Early Access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69020" y="7316152"/>
            <a:ext cx="23499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06080">
                    <a:alphaMod val="50000"/>
                  </a:srgbClr>
                </a:solidFill>
                <a:latin typeface="Segoe UI"/>
                <a:ea typeface="Microsoft YaHei"/>
                <a:cs typeface="Segoe UI"/>
              </a:rPr>
              <a:t>Otto - Your AI Coworker - 2026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